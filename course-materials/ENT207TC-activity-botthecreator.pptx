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one promise: by the end of this hour, each group will have a playable web game and evidence for one improvement. Do not explain design thinking yet. Ask students to judge the activity by what they learn from another person's behaviour, not by polish.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 groups quickly. Recommended group size is five or six, giving roughly 40–48 published games across 240 students. Assign one laptop as the build device. Everyone else remains active as user advocate, interaction designer, prompt lead, tester, or reporter.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brisk. The questions quietly establish user, intended experience, core loop, and success condition. If a group debates visual style first, redirect them to WHO and DO. A useful answer is specific enough that a stranger could test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every student to draft independently before the group merges ideas. This prevents the loudest voice from owning the first concept. Give a hard two-minute timer. The group may combine parts, but should end with one coherent prompt rather than a list of features.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each group open the site on one laptop and enter ENT207TC. Do not display or share the teacher host code. Phones are not required for the build. Keep the QR secondary so the room does not fragment into 240 individual sessions.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a visible 20-minute timer. Encourage groups to run the game as soon as the first playable version appears. At five minutes remaining, announce a feature freeze: only repair the core action, instructions, controls, or feedback. If generation is slow, groups refine the prompt and test the last working version.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Pair neighbouring groups. The creator group must stay quiet during the first play. Testers should think aloud only if that is natural; creators watch behaviour. After play, allow one factual question. Each group records one observed behaviour and one chosen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Require one evidence sentence before the group edits. A change can be wording, control placement, visual feedback, difficulty, pacing, or a bug fix. Discourage broad redesign. After the change is tested, publish the best working version and give it a clear title.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the host screen, open voting. Student browsers will show a voting banner on their next poll, but the gallery does not open automatically; tell students to open Class Gallery. Each browser has three tokens and can vote once per game. Best Remix may be ignored in this session. Totals are visible during voting, so frame this as recognition rather than ranking.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the label now. Ask two groups for a 20-second answer: what behaviour did you observe, and what did you change? Connect their answers to understand, make, observe, improve. Close by distinguishing a prototype from a product: the goal was learning, not completeness.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Teacher-only slide. Sign in to /host before class and keep it on the teaching computer. Verify the active workshop is empty, generation works, and gallery publishing is enabled. Do not put the host code in slides, chat, or student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Teacher-only slide. With 240 students, ask one person per group to keep the build laptop open while others can use phones for gallery play and voting. Voting is lightweight classroom recognition. If totals distract the room, shorten voting and move directly to selected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Teacher-only slide. Do not use remix with the full cohort until tested with a small set of devices. Confirm no participant receives their own game, the 60-second play-first lock is understandable, and remix submission creates a new version instead of overwriting the original.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Teacher-only slide. The invariant is evidence-led iteration. If the service is unavailable, groups can still define the loop, simulate it with paper or people, observe confusion, and revise one rule. Capture promising prompts for a later rerun.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40F"/>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t="5034" b="5034"/>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CC9F7B4-C889-42A6-8B17-35C940E64B13}"/>
              </a:ext>
            </a:extLst>
          </p:cNvPr>
          <p:cNvSpPr>
            <a:spLocks noGrp="1"/>
          </p:cNvSpPr>
          <p:nvPr/>
        </p:nvSpPr>
        <p:spPr>
          <a:xfrm>
            <a:off x="0" y="0"/>
            <a:ext cx="12192000" cy="6858000"/>
          </a:xfrm>
          <a:prstGeom prst="rect">
            <a:avLst/>
          </a:prstGeom>
          <a:solidFill>
            <a:srgbClr val="17140F">
              <a:alpha val="87059"/>
            </a:srgbClr>
          </a:solidFill>
          <a:ln w="0">
            <a:solidFill>
              <a:srgbClr val="17140F">
                <a:alpha val="87059"/>
              </a:srgbClr>
            </a:solidFill>
            <a:prstDash val="solid"/>
          </a:ln>
        </p:spPr>
        <p:txBody>
          <a:bodyPr/>
          <a:lstStyle/>
          <a:p>
            <a:endParaRPr lang="en-DE"/>
          </a:p>
        </p:txBody>
      </p:sp>
      <p:sp>
        <p:nvSpPr>
          <p:cNvPr id="3" name="Rectangle 2">
            <a:extLst>
              <a:ext uri="{FF2B5EF4-FFF2-40B4-BE49-F238E27FC236}">
                <a16:creationId xmlns:a16="http://schemas.microsoft.com/office/drawing/2014/main" id="{73D4E653-9A8C-450F-8983-D69B92DA3502}"/>
              </a:ext>
            </a:extLst>
          </p:cNvPr>
          <p:cNvSpPr>
            <a:spLocks noGrp="1"/>
          </p:cNvSpPr>
          <p:nvPr/>
        </p:nvSpPr>
        <p:spPr>
          <a:xfrm>
            <a:off x="628650" y="514350"/>
            <a:ext cx="66675" cy="933450"/>
          </a:xfrm>
          <a:prstGeom prst="rect">
            <a:avLst/>
          </a:prstGeom>
          <a:solidFill>
            <a:srgbClr val="BE2F9F"/>
          </a:solidFill>
          <a:ln w="0">
            <a:solidFill>
              <a:srgbClr val="BE2F9F"/>
            </a:solidFill>
            <a:prstDash val="solid"/>
          </a:ln>
        </p:spPr>
        <p:txBody>
          <a:bodyPr/>
          <a:lstStyle/>
          <a:p>
            <a:endParaRPr lang="en-DE"/>
          </a:p>
        </p:txBody>
      </p:sp>
      <p:pic>
        <p:nvPicPr>
          <p:cNvPr id="16" name="Picture 15"/>
          <p:cNvPicPr>
            <a:picLocks noChangeAspect="1"/>
          </p:cNvPicPr>
          <p:nvPr/>
        </p:nvPicPr>
        <p:blipFill>
          <a:blip r:embed="rId4"/>
          <a:stretch/>
        </p:blipFill>
        <p:spPr>
          <a:xfrm>
            <a:off x="781050" y="514350"/>
            <a:ext cx="552450" cy="552450"/>
          </a:xfrm>
          <a:prstGeom prst="rect">
            <a:avLst/>
          </a:prstGeom>
        </p:spPr>
      </p:pic>
      <p:sp>
        <p:nvSpPr>
          <p:cNvPr id="5" name="Rectangle 4">
            <a:extLst>
              <a:ext uri="{FF2B5EF4-FFF2-40B4-BE49-F238E27FC236}">
                <a16:creationId xmlns:a16="http://schemas.microsoft.com/office/drawing/2014/main" id="{4F526633-D211-4A06-908F-6443FB93E0C6}"/>
              </a:ext>
            </a:extLst>
          </p:cNvPr>
          <p:cNvSpPr>
            <a:spLocks noGrp="1"/>
          </p:cNvSpPr>
          <p:nvPr/>
        </p:nvSpPr>
        <p:spPr>
          <a:xfrm>
            <a:off x="1524000" y="523875"/>
            <a:ext cx="5715000" cy="285750"/>
          </a:xfrm>
          <a:prstGeom prst="rect">
            <a:avLst/>
          </a:prstGeom>
          <a:noFill/>
          <a:ln w="0">
            <a:noFill/>
          </a:ln>
        </p:spPr>
        <p:txBody>
          <a:bodyPr anchor="ctr">
            <a:normAutofit/>
          </a:bodyPr>
          <a:lstStyle/>
          <a:p>
            <a:pPr algn="l">
              <a:lnSpc>
                <a:spcPct val="100000"/>
              </a:lnSpc>
              <a:buNone/>
              <a:defRPr sz="1200" b="1">
                <a:solidFill>
                  <a:srgbClr val="C69A4B"/>
                </a:solidFill>
                <a:latin typeface="Aptos"/>
                <a:ea typeface="Aptos"/>
                <a:cs typeface="Aptos"/>
              </a:defRPr>
            </a:pPr>
            <a:r>
              <a:rPr sz="1200" b="1">
                <a:solidFill>
                  <a:srgbClr val="C69A4B"/>
                </a:solidFill>
                <a:latin typeface="Aptos"/>
                <a:ea typeface="Aptos"/>
                <a:cs typeface="Aptos"/>
              </a:rPr>
              <a:t>ENT207TC · DIGITAL STARTUP LAB</a:t>
            </a:r>
          </a:p>
        </p:txBody>
      </p:sp>
      <p:sp>
        <p:nvSpPr>
          <p:cNvPr id="6" name="Rectangle 5">
            <a:extLst>
              <a:ext uri="{FF2B5EF4-FFF2-40B4-BE49-F238E27FC236}">
                <a16:creationId xmlns:a16="http://schemas.microsoft.com/office/drawing/2014/main" id="{279A9C48-C99A-46D4-9E02-549E8B7586FA}"/>
              </a:ext>
            </a:extLst>
          </p:cNvPr>
          <p:cNvSpPr>
            <a:spLocks noGrp="1"/>
          </p:cNvSpPr>
          <p:nvPr/>
        </p:nvSpPr>
        <p:spPr>
          <a:xfrm>
            <a:off x="628650" y="1847850"/>
            <a:ext cx="7334250" cy="857250"/>
          </a:xfrm>
          <a:prstGeom prst="rect">
            <a:avLst/>
          </a:prstGeom>
          <a:noFill/>
          <a:ln w="0">
            <a:noFill/>
          </a:ln>
        </p:spPr>
        <p:txBody>
          <a:bodyPr anchor="ctr">
            <a:normAutofit/>
          </a:bodyPr>
          <a:lstStyle/>
          <a:p>
            <a:pPr algn="l">
              <a:lnSpc>
                <a:spcPct val="100000"/>
              </a:lnSpc>
              <a:buNone/>
              <a:defRPr sz="4800" b="1">
                <a:solidFill>
                  <a:srgbClr val="FFF8E8"/>
                </a:solidFill>
                <a:latin typeface="Aptos Display"/>
                <a:ea typeface="Aptos Display"/>
                <a:cs typeface="Aptos Display"/>
              </a:defRPr>
            </a:pPr>
            <a:r>
              <a:rPr sz="4800" b="1">
                <a:solidFill>
                  <a:srgbClr val="FFF8E8"/>
                </a:solidFill>
                <a:latin typeface="Aptos Display"/>
                <a:ea typeface="Aptos Display"/>
                <a:cs typeface="Aptos Display"/>
              </a:rPr>
              <a:t>One playable idea.</a:t>
            </a:r>
          </a:p>
        </p:txBody>
      </p:sp>
      <p:sp>
        <p:nvSpPr>
          <p:cNvPr id="7" name="Rectangle 6">
            <a:extLst>
              <a:ext uri="{FF2B5EF4-FFF2-40B4-BE49-F238E27FC236}">
                <a16:creationId xmlns:a16="http://schemas.microsoft.com/office/drawing/2014/main" id="{1A331A19-34CF-4123-9443-A935A7CE136B}"/>
              </a:ext>
            </a:extLst>
          </p:cNvPr>
          <p:cNvSpPr>
            <a:spLocks noGrp="1"/>
          </p:cNvSpPr>
          <p:nvPr/>
        </p:nvSpPr>
        <p:spPr>
          <a:xfrm>
            <a:off x="666750" y="2733675"/>
            <a:ext cx="6953250" cy="762000"/>
          </a:xfrm>
          <a:prstGeom prst="rect">
            <a:avLst/>
          </a:prstGeom>
          <a:noFill/>
          <a:ln w="0">
            <a:noFill/>
          </a:ln>
        </p:spPr>
        <p:txBody>
          <a:bodyPr anchor="ctr">
            <a:normAutofit/>
          </a:bodyPr>
          <a:lstStyle/>
          <a:p>
            <a:pPr algn="l">
              <a:lnSpc>
                <a:spcPct val="100000"/>
              </a:lnSpc>
              <a:buNone/>
              <a:defRPr sz="2325" b="0">
                <a:solidFill>
                  <a:srgbClr val="D7CDBE"/>
                </a:solidFill>
                <a:latin typeface="Aptos"/>
                <a:ea typeface="Aptos"/>
                <a:cs typeface="Aptos"/>
              </a:defRPr>
            </a:pPr>
            <a:r>
              <a:rPr sz="2325" b="0">
                <a:solidFill>
                  <a:srgbClr val="D7CDBE"/>
                </a:solidFill>
                <a:latin typeface="Aptos"/>
                <a:ea typeface="Aptos"/>
                <a:cs typeface="Aptos"/>
              </a:rPr>
              <a:t>Built, tested and improved in 60 minutes.</a:t>
            </a:r>
          </a:p>
        </p:txBody>
      </p:sp>
      <p:sp>
        <p:nvSpPr>
          <p:cNvPr id="8" name="Rectangle: Rounded Corners 7">
            <a:extLst>
              <a:ext uri="{FF2B5EF4-FFF2-40B4-BE49-F238E27FC236}">
                <a16:creationId xmlns:a16="http://schemas.microsoft.com/office/drawing/2014/main" id="{3EE2FEE4-BB53-48CF-BC56-B01AECDFC216}"/>
              </a:ext>
            </a:extLst>
          </p:cNvPr>
          <p:cNvSpPr>
            <a:spLocks noGrp="1"/>
          </p:cNvSpPr>
          <p:nvPr/>
        </p:nvSpPr>
        <p:spPr>
          <a:xfrm>
            <a:off x="666750" y="3943350"/>
            <a:ext cx="4171950" cy="628650"/>
          </a:xfrm>
          <a:prstGeom prst="roundRect">
            <a:avLst>
              <a:gd name="adj" fmla="val 12121"/>
            </a:avLst>
          </a:prstGeom>
          <a:solidFill>
            <a:srgbClr val="BE2F9F"/>
          </a:solidFill>
          <a:ln w="0">
            <a:solidFill>
              <a:srgbClr val="BE2F9F"/>
            </a:solidFill>
            <a:prstDash val="solid"/>
          </a:ln>
        </p:spPr>
        <p:txBody>
          <a:bodyPr/>
          <a:lstStyle/>
          <a:p>
            <a:endParaRPr lang="en-DE"/>
          </a:p>
        </p:txBody>
      </p:sp>
      <p:sp>
        <p:nvSpPr>
          <p:cNvPr id="9" name="Rectangle 8">
            <a:extLst>
              <a:ext uri="{FF2B5EF4-FFF2-40B4-BE49-F238E27FC236}">
                <a16:creationId xmlns:a16="http://schemas.microsoft.com/office/drawing/2014/main" id="{D660F13A-66AE-4ED4-81CE-A25F2A8BFEA7}"/>
              </a:ext>
            </a:extLst>
          </p:cNvPr>
          <p:cNvSpPr>
            <a:spLocks noGrp="1"/>
          </p:cNvSpPr>
          <p:nvPr/>
        </p:nvSpPr>
        <p:spPr>
          <a:xfrm>
            <a:off x="876300" y="4038600"/>
            <a:ext cx="3752850" cy="419100"/>
          </a:xfrm>
          <a:prstGeom prst="rect">
            <a:avLst/>
          </a:prstGeom>
          <a:noFill/>
          <a:ln w="0">
            <a:noFill/>
          </a:ln>
        </p:spPr>
        <p:txBody>
          <a:bodyPr anchor="ctr">
            <a:normAutofit/>
          </a:bodyPr>
          <a:lstStyle/>
          <a:p>
            <a:pPr algn="l">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BOT THE CREATOR</a:t>
            </a:r>
          </a:p>
        </p:txBody>
      </p:sp>
      <p:sp>
        <p:nvSpPr>
          <p:cNvPr id="10" name="Rectangle 9">
            <a:extLst>
              <a:ext uri="{FF2B5EF4-FFF2-40B4-BE49-F238E27FC236}">
                <a16:creationId xmlns:a16="http://schemas.microsoft.com/office/drawing/2014/main" id="{C62FC393-F007-4530-8838-BD17AE6D7E4C}"/>
              </a:ext>
            </a:extLst>
          </p:cNvPr>
          <p:cNvSpPr>
            <a:spLocks noGrp="1"/>
          </p:cNvSpPr>
          <p:nvPr/>
        </p:nvSpPr>
        <p:spPr>
          <a:xfrm>
            <a:off x="685800" y="5000625"/>
            <a:ext cx="4762500" cy="419100"/>
          </a:xfrm>
          <a:prstGeom prst="rect">
            <a:avLst/>
          </a:prstGeom>
          <a:noFill/>
          <a:ln w="0">
            <a:noFill/>
          </a:ln>
        </p:spPr>
        <p:txBody>
          <a:bodyPr anchor="ctr">
            <a:normAutofit/>
          </a:bodyPr>
          <a:lstStyle/>
          <a:p>
            <a:pPr algn="l">
              <a:lnSpc>
                <a:spcPct val="100000"/>
              </a:lnSpc>
              <a:buNone/>
              <a:defRPr sz="1650" b="0">
                <a:solidFill>
                  <a:srgbClr val="C69A4B"/>
                </a:solidFill>
                <a:latin typeface="Aptos"/>
                <a:ea typeface="Aptos"/>
                <a:cs typeface="Aptos"/>
              </a:defRPr>
            </a:pPr>
            <a:r>
              <a:rPr sz="1650" b="0">
                <a:solidFill>
                  <a:srgbClr val="C69A4B"/>
                </a:solidFill>
                <a:latin typeface="Aptos"/>
                <a:ea typeface="Aptos"/>
                <a:cs typeface="Aptos"/>
              </a:rPr>
              <a:t>Design before polish.</a:t>
            </a:r>
          </a:p>
        </p:txBody>
      </p:sp>
      <p:pic>
        <p:nvPicPr>
          <p:cNvPr id="23" name="Picture 22"/>
          <p:cNvPicPr>
            <a:picLocks noChangeAspect="1"/>
          </p:cNvPicPr>
          <p:nvPr/>
        </p:nvPicPr>
        <p:blipFill>
          <a:blip r:embed="rId5"/>
          <a:stretch/>
        </p:blipFill>
        <p:spPr>
          <a:xfrm>
            <a:off x="8267700" y="1703546"/>
            <a:ext cx="3238500" cy="3546158"/>
          </a:xfrm>
          <a:prstGeom prst="rect">
            <a:avLst/>
          </a:prstGeom>
        </p:spPr>
      </p:pic>
      <p:sp>
        <p:nvSpPr>
          <p:cNvPr id="12" name="Rectangle 11">
            <a:extLst>
              <a:ext uri="{FF2B5EF4-FFF2-40B4-BE49-F238E27FC236}">
                <a16:creationId xmlns:a16="http://schemas.microsoft.com/office/drawing/2014/main" id="{57D2011A-B82A-4462-9DE3-53A1C58F81C1}"/>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A99D89"/>
                </a:solidFill>
                <a:latin typeface="Aptos"/>
                <a:ea typeface="Aptos"/>
                <a:cs typeface="Aptos"/>
              </a:defRPr>
            </a:pPr>
            <a:r>
              <a:rPr sz="975" b="1">
                <a:solidFill>
                  <a:srgbClr val="A99D89"/>
                </a:solidFill>
                <a:latin typeface="Aptos"/>
                <a:ea typeface="Aptos"/>
                <a:cs typeface="Aptos"/>
              </a:rPr>
              <a:t>01</a:t>
            </a:r>
          </a:p>
        </p:txBody>
      </p:sp>
    </p:spTree>
    <p:extLst>
      <p:ext uri="{BB962C8B-B14F-4D97-AF65-F5344CB8AC3E}">
        <p14:creationId xmlns:p14="http://schemas.microsoft.com/office/powerpoint/2010/main" val="201815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ED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D9E4CAB-ADEC-4F4D-B86B-7E8A273D26A1}"/>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YOUR MISSION</a:t>
            </a:r>
          </a:p>
        </p:txBody>
      </p:sp>
      <p:sp>
        <p:nvSpPr>
          <p:cNvPr id="2" name="Rectangle 1">
            <a:extLst>
              <a:ext uri="{FF2B5EF4-FFF2-40B4-BE49-F238E27FC236}">
                <a16:creationId xmlns:a16="http://schemas.microsoft.com/office/drawing/2014/main" id="{85897F14-59C2-4CFB-BD7C-0A4A81D231B3}"/>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Make one tiny game for one real person.</a:t>
            </a:r>
          </a:p>
        </p:txBody>
      </p:sp>
      <p:sp>
        <p:nvSpPr>
          <p:cNvPr id="3" name="Rectangle 2">
            <a:extLst>
              <a:ext uri="{FF2B5EF4-FFF2-40B4-BE49-F238E27FC236}">
                <a16:creationId xmlns:a16="http://schemas.microsoft.com/office/drawing/2014/main" id="{24ADD893-2889-4D3E-89C8-28D4AEDE2038}"/>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dirty="0">
                <a:solidFill>
                  <a:srgbClr val="706A5D"/>
                </a:solidFill>
                <a:latin typeface="Aptos"/>
                <a:ea typeface="Aptos"/>
                <a:cs typeface="Aptos"/>
              </a:rPr>
              <a:t>One laptop per group · </a:t>
            </a:r>
            <a:r>
              <a:rPr lang="de-DE" sz="1800" b="0" dirty="0">
                <a:solidFill>
                  <a:srgbClr val="706A5D"/>
                </a:solidFill>
                <a:latin typeface="Aptos"/>
                <a:ea typeface="Aptos"/>
                <a:cs typeface="Aptos"/>
              </a:rPr>
              <a:t>6</a:t>
            </a:r>
            <a:r>
              <a:rPr sz="1800" b="0" dirty="0">
                <a:solidFill>
                  <a:srgbClr val="706A5D"/>
                </a:solidFill>
                <a:latin typeface="Aptos"/>
                <a:ea typeface="Aptos"/>
                <a:cs typeface="Aptos"/>
              </a:rPr>
              <a:t>–</a:t>
            </a:r>
            <a:r>
              <a:rPr lang="de-DE" sz="1800" b="0" dirty="0">
                <a:solidFill>
                  <a:srgbClr val="706A5D"/>
                </a:solidFill>
                <a:latin typeface="Aptos"/>
                <a:ea typeface="Aptos"/>
                <a:cs typeface="Aptos"/>
              </a:rPr>
              <a:t>8</a:t>
            </a:r>
            <a:r>
              <a:rPr sz="1800" b="0" dirty="0">
                <a:solidFill>
                  <a:srgbClr val="706A5D"/>
                </a:solidFill>
                <a:latin typeface="Aptos"/>
                <a:ea typeface="Aptos"/>
                <a:cs typeface="Aptos"/>
              </a:rPr>
              <a:t> people · shared decisions</a:t>
            </a:r>
          </a:p>
        </p:txBody>
      </p:sp>
      <p:sp>
        <p:nvSpPr>
          <p:cNvPr id="4" name="Rectangle 3">
            <a:extLst>
              <a:ext uri="{FF2B5EF4-FFF2-40B4-BE49-F238E27FC236}">
                <a16:creationId xmlns:a16="http://schemas.microsoft.com/office/drawing/2014/main" id="{0626623D-D05E-4108-9E33-81DAC0FE703A}"/>
              </a:ext>
            </a:extLst>
          </p:cNvPr>
          <p:cNvSpPr>
            <a:spLocks noGrp="1"/>
          </p:cNvSpPr>
          <p:nvPr/>
        </p:nvSpPr>
        <p:spPr>
          <a:xfrm>
            <a:off x="666750" y="2476500"/>
            <a:ext cx="3810000" cy="1333500"/>
          </a:xfrm>
          <a:prstGeom prst="rect">
            <a:avLst/>
          </a:prstGeom>
          <a:noFill/>
          <a:ln w="0">
            <a:noFill/>
          </a:ln>
        </p:spPr>
        <p:txBody>
          <a:bodyPr anchor="ctr">
            <a:normAutofit/>
          </a:bodyPr>
          <a:lstStyle/>
          <a:p>
            <a:pPr algn="l">
              <a:lnSpc>
                <a:spcPct val="100000"/>
              </a:lnSpc>
              <a:buNone/>
              <a:defRPr sz="8100" b="1">
                <a:solidFill>
                  <a:srgbClr val="BE2F9F"/>
                </a:solidFill>
                <a:latin typeface="Aptos Display"/>
                <a:ea typeface="Aptos Display"/>
                <a:cs typeface="Aptos Display"/>
              </a:defRPr>
            </a:pPr>
            <a:r>
              <a:rPr lang="de-DE" sz="8100" b="1" dirty="0">
                <a:solidFill>
                  <a:srgbClr val="BE2F9F"/>
                </a:solidFill>
                <a:latin typeface="Aptos Display"/>
                <a:ea typeface="Aptos Display"/>
                <a:cs typeface="Aptos Display"/>
              </a:rPr>
              <a:t>20</a:t>
            </a:r>
            <a:r>
              <a:rPr sz="8100" b="1" dirty="0">
                <a:solidFill>
                  <a:srgbClr val="BE2F9F"/>
                </a:solidFill>
                <a:latin typeface="Aptos Display"/>
                <a:ea typeface="Aptos Display"/>
                <a:cs typeface="Aptos Display"/>
              </a:rPr>
              <a:t>:00</a:t>
            </a:r>
          </a:p>
        </p:txBody>
      </p:sp>
      <p:sp>
        <p:nvSpPr>
          <p:cNvPr id="5" name="Rectangle 4">
            <a:extLst>
              <a:ext uri="{FF2B5EF4-FFF2-40B4-BE49-F238E27FC236}">
                <a16:creationId xmlns:a16="http://schemas.microsoft.com/office/drawing/2014/main" id="{9582E526-D1CA-4C97-A516-5790429A840E}"/>
              </a:ext>
            </a:extLst>
          </p:cNvPr>
          <p:cNvSpPr>
            <a:spLocks noGrp="1"/>
          </p:cNvSpPr>
          <p:nvPr/>
        </p:nvSpPr>
        <p:spPr>
          <a:xfrm>
            <a:off x="742950" y="3905250"/>
            <a:ext cx="3810000" cy="952500"/>
          </a:xfrm>
          <a:prstGeom prst="rect">
            <a:avLst/>
          </a:prstGeom>
          <a:noFill/>
          <a:ln w="0">
            <a:noFill/>
          </a:ln>
        </p:spPr>
        <p:txBody>
          <a:bodyPr anchor="ctr">
            <a:normAutofit/>
          </a:bodyPr>
          <a:lstStyle/>
          <a:p>
            <a:pPr algn="l">
              <a:lnSpc>
                <a:spcPct val="100000"/>
              </a:lnSpc>
              <a:buNone/>
              <a:defRPr sz="2250" b="1">
                <a:solidFill>
                  <a:srgbClr val="181611"/>
                </a:solidFill>
                <a:latin typeface="Aptos"/>
                <a:ea typeface="Aptos"/>
                <a:cs typeface="Aptos"/>
              </a:defRPr>
            </a:pPr>
            <a:r>
              <a:rPr sz="2250" b="1">
                <a:solidFill>
                  <a:srgbClr val="181611"/>
                </a:solidFill>
                <a:latin typeface="Aptos"/>
                <a:ea typeface="Aptos"/>
                <a:cs typeface="Aptos"/>
              </a:rPr>
              <a:t>A playable prototype,</a:t>
            </a:r>
          </a:p>
          <a:p>
            <a:pPr algn="l">
              <a:lnSpc>
                <a:spcPct val="100000"/>
              </a:lnSpc>
              <a:buNone/>
              <a:defRPr sz="2250" b="1">
                <a:solidFill>
                  <a:srgbClr val="181611"/>
                </a:solidFill>
                <a:latin typeface="Aptos"/>
                <a:ea typeface="Aptos"/>
                <a:cs typeface="Aptos"/>
              </a:defRPr>
            </a:pPr>
            <a:r>
              <a:rPr sz="2250" b="1">
                <a:solidFill>
                  <a:srgbClr val="181611"/>
                </a:solidFill>
                <a:latin typeface="Aptos"/>
                <a:ea typeface="Aptos"/>
                <a:cs typeface="Aptos"/>
              </a:rPr>
              <a:t>not a finished product.</a:t>
            </a:r>
          </a:p>
        </p:txBody>
      </p:sp>
      <p:sp>
        <p:nvSpPr>
          <p:cNvPr id="6" name="Straight Connector 5">
            <a:extLst>
              <a:ext uri="{FF2B5EF4-FFF2-40B4-BE49-F238E27FC236}">
                <a16:creationId xmlns:a16="http://schemas.microsoft.com/office/drawing/2014/main" id="{5C5BFD91-48D8-4654-95D7-4D9BA2992A83}"/>
              </a:ext>
            </a:extLst>
          </p:cNvPr>
          <p:cNvSpPr>
            <a:spLocks noGrp="1"/>
          </p:cNvSpPr>
          <p:nvPr/>
        </p:nvSpPr>
        <p:spPr>
          <a:xfrm>
            <a:off x="5295900" y="2343150"/>
            <a:ext cx="0" cy="2857500"/>
          </a:xfrm>
          <a:prstGeom prst="line">
            <a:avLst/>
          </a:prstGeom>
          <a:noFill/>
          <a:ln w="28575">
            <a:solidFill>
              <a:srgbClr val="D8CDB9"/>
            </a:solidFill>
            <a:prstDash val="solid"/>
          </a:ln>
        </p:spPr>
        <p:txBody>
          <a:bodyPr/>
          <a:lstStyle/>
          <a:p>
            <a:endParaRPr lang="en-DE"/>
          </a:p>
        </p:txBody>
      </p:sp>
      <p:sp>
        <p:nvSpPr>
          <p:cNvPr id="7" name="Rectangle 6">
            <a:extLst>
              <a:ext uri="{FF2B5EF4-FFF2-40B4-BE49-F238E27FC236}">
                <a16:creationId xmlns:a16="http://schemas.microsoft.com/office/drawing/2014/main" id="{E78DFC60-91EF-4889-8C11-256CC9C2616B}"/>
              </a:ext>
            </a:extLst>
          </p:cNvPr>
          <p:cNvSpPr>
            <a:spLocks noGrp="1"/>
          </p:cNvSpPr>
          <p:nvPr/>
        </p:nvSpPr>
        <p:spPr>
          <a:xfrm>
            <a:off x="5905500" y="2305050"/>
            <a:ext cx="514350" cy="457200"/>
          </a:xfrm>
          <a:prstGeom prst="rect">
            <a:avLst/>
          </a:prstGeom>
          <a:noFill/>
          <a:ln w="0">
            <a:noFill/>
          </a:ln>
        </p:spPr>
        <p:txBody>
          <a:bodyPr anchor="ctr">
            <a:normAutofit/>
          </a:bodyPr>
          <a:lstStyle/>
          <a:p>
            <a:pPr algn="l">
              <a:lnSpc>
                <a:spcPct val="100000"/>
              </a:lnSpc>
              <a:buNone/>
              <a:defRPr sz="1350" b="1">
                <a:solidFill>
                  <a:srgbClr val="BE2F9F"/>
                </a:solidFill>
                <a:latin typeface="Aptos"/>
                <a:ea typeface="Aptos"/>
                <a:cs typeface="Aptos"/>
              </a:defRPr>
            </a:pPr>
            <a:r>
              <a:rPr sz="1350" b="1">
                <a:solidFill>
                  <a:srgbClr val="BE2F9F"/>
                </a:solidFill>
                <a:latin typeface="Aptos"/>
                <a:ea typeface="Aptos"/>
                <a:cs typeface="Aptos"/>
              </a:rPr>
              <a:t>01</a:t>
            </a:r>
          </a:p>
        </p:txBody>
      </p:sp>
      <p:sp>
        <p:nvSpPr>
          <p:cNvPr id="8" name="Rectangle 7">
            <a:extLst>
              <a:ext uri="{FF2B5EF4-FFF2-40B4-BE49-F238E27FC236}">
                <a16:creationId xmlns:a16="http://schemas.microsoft.com/office/drawing/2014/main" id="{9514ACAD-4ACF-4375-B1BB-4DCBD8AAA2FD}"/>
              </a:ext>
            </a:extLst>
          </p:cNvPr>
          <p:cNvSpPr>
            <a:spLocks noGrp="1"/>
          </p:cNvSpPr>
          <p:nvPr/>
        </p:nvSpPr>
        <p:spPr>
          <a:xfrm>
            <a:off x="6591300" y="2238375"/>
            <a:ext cx="4095750" cy="590550"/>
          </a:xfrm>
          <a:prstGeom prst="rect">
            <a:avLst/>
          </a:prstGeom>
          <a:noFill/>
          <a:ln w="0">
            <a:noFill/>
          </a:ln>
        </p:spPr>
        <p:txBody>
          <a:bodyPr anchor="ctr">
            <a:normAutofit/>
          </a:bodyPr>
          <a:lstStyle/>
          <a:p>
            <a:pPr algn="l">
              <a:lnSpc>
                <a:spcPct val="100000"/>
              </a:lnSpc>
              <a:buNone/>
              <a:defRPr sz="2250" b="1">
                <a:solidFill>
                  <a:srgbClr val="181611"/>
                </a:solidFill>
                <a:latin typeface="Aptos"/>
                <a:ea typeface="Aptos"/>
                <a:cs typeface="Aptos"/>
              </a:defRPr>
            </a:pPr>
            <a:r>
              <a:rPr sz="2250" b="1">
                <a:solidFill>
                  <a:srgbClr val="181611"/>
                </a:solidFill>
                <a:latin typeface="Aptos"/>
                <a:ea typeface="Aptos"/>
                <a:cs typeface="Aptos"/>
              </a:rPr>
              <a:t>Choose a player</a:t>
            </a:r>
          </a:p>
        </p:txBody>
      </p:sp>
      <p:sp>
        <p:nvSpPr>
          <p:cNvPr id="9" name="Straight Connector 8">
            <a:extLst>
              <a:ext uri="{FF2B5EF4-FFF2-40B4-BE49-F238E27FC236}">
                <a16:creationId xmlns:a16="http://schemas.microsoft.com/office/drawing/2014/main" id="{89805856-01CF-4BF2-8001-836BF1CD2A7C}"/>
              </a:ext>
            </a:extLst>
          </p:cNvPr>
          <p:cNvSpPr>
            <a:spLocks noGrp="1"/>
          </p:cNvSpPr>
          <p:nvPr/>
        </p:nvSpPr>
        <p:spPr>
          <a:xfrm>
            <a:off x="5905500" y="3009900"/>
            <a:ext cx="4457700" cy="0"/>
          </a:xfrm>
          <a:prstGeom prst="line">
            <a:avLst/>
          </a:prstGeom>
          <a:noFill/>
          <a:ln w="9525">
            <a:solidFill>
              <a:srgbClr val="D8CDB9"/>
            </a:solidFill>
            <a:prstDash val="solid"/>
          </a:ln>
        </p:spPr>
        <p:txBody>
          <a:bodyPr/>
          <a:lstStyle/>
          <a:p>
            <a:endParaRPr lang="en-DE"/>
          </a:p>
        </p:txBody>
      </p:sp>
      <p:sp>
        <p:nvSpPr>
          <p:cNvPr id="10" name="Rectangle 9">
            <a:extLst>
              <a:ext uri="{FF2B5EF4-FFF2-40B4-BE49-F238E27FC236}">
                <a16:creationId xmlns:a16="http://schemas.microsoft.com/office/drawing/2014/main" id="{B733224B-B807-48B4-BE9F-0896CAF75103}"/>
              </a:ext>
            </a:extLst>
          </p:cNvPr>
          <p:cNvSpPr>
            <a:spLocks noGrp="1"/>
          </p:cNvSpPr>
          <p:nvPr/>
        </p:nvSpPr>
        <p:spPr>
          <a:xfrm>
            <a:off x="5905500" y="3257550"/>
            <a:ext cx="514350" cy="457200"/>
          </a:xfrm>
          <a:prstGeom prst="rect">
            <a:avLst/>
          </a:prstGeom>
          <a:noFill/>
          <a:ln w="0">
            <a:noFill/>
          </a:ln>
        </p:spPr>
        <p:txBody>
          <a:bodyPr anchor="ctr">
            <a:normAutofit/>
          </a:bodyPr>
          <a:lstStyle/>
          <a:p>
            <a:pPr algn="l">
              <a:lnSpc>
                <a:spcPct val="100000"/>
              </a:lnSpc>
              <a:buNone/>
              <a:defRPr sz="1350" b="1">
                <a:solidFill>
                  <a:srgbClr val="BE2F9F"/>
                </a:solidFill>
                <a:latin typeface="Aptos"/>
                <a:ea typeface="Aptos"/>
                <a:cs typeface="Aptos"/>
              </a:defRPr>
            </a:pPr>
            <a:r>
              <a:rPr sz="1350" b="1">
                <a:solidFill>
                  <a:srgbClr val="BE2F9F"/>
                </a:solidFill>
                <a:latin typeface="Aptos"/>
                <a:ea typeface="Aptos"/>
                <a:cs typeface="Aptos"/>
              </a:rPr>
              <a:t>02</a:t>
            </a:r>
          </a:p>
        </p:txBody>
      </p:sp>
      <p:sp>
        <p:nvSpPr>
          <p:cNvPr id="11" name="Rectangle 10">
            <a:extLst>
              <a:ext uri="{FF2B5EF4-FFF2-40B4-BE49-F238E27FC236}">
                <a16:creationId xmlns:a16="http://schemas.microsoft.com/office/drawing/2014/main" id="{7AE65BD2-15A6-44D6-AC27-8178444F4C84}"/>
              </a:ext>
            </a:extLst>
          </p:cNvPr>
          <p:cNvSpPr>
            <a:spLocks noGrp="1"/>
          </p:cNvSpPr>
          <p:nvPr/>
        </p:nvSpPr>
        <p:spPr>
          <a:xfrm>
            <a:off x="6591300" y="3190875"/>
            <a:ext cx="4095750" cy="590550"/>
          </a:xfrm>
          <a:prstGeom prst="rect">
            <a:avLst/>
          </a:prstGeom>
          <a:noFill/>
          <a:ln w="0">
            <a:noFill/>
          </a:ln>
        </p:spPr>
        <p:txBody>
          <a:bodyPr anchor="ctr">
            <a:normAutofit/>
          </a:bodyPr>
          <a:lstStyle/>
          <a:p>
            <a:pPr algn="l">
              <a:lnSpc>
                <a:spcPct val="100000"/>
              </a:lnSpc>
              <a:buNone/>
              <a:defRPr sz="2250" b="1">
                <a:solidFill>
                  <a:srgbClr val="181611"/>
                </a:solidFill>
                <a:latin typeface="Aptos"/>
                <a:ea typeface="Aptos"/>
                <a:cs typeface="Aptos"/>
              </a:defRPr>
            </a:pPr>
            <a:r>
              <a:rPr sz="2250" b="1">
                <a:solidFill>
                  <a:srgbClr val="181611"/>
                </a:solidFill>
                <a:latin typeface="Aptos"/>
                <a:ea typeface="Aptos"/>
                <a:cs typeface="Aptos"/>
              </a:rPr>
              <a:t>Choose one action</a:t>
            </a:r>
          </a:p>
        </p:txBody>
      </p:sp>
      <p:sp>
        <p:nvSpPr>
          <p:cNvPr id="12" name="Straight Connector 11">
            <a:extLst>
              <a:ext uri="{FF2B5EF4-FFF2-40B4-BE49-F238E27FC236}">
                <a16:creationId xmlns:a16="http://schemas.microsoft.com/office/drawing/2014/main" id="{80944DC9-931C-48E0-96CE-E9C728F76D84}"/>
              </a:ext>
            </a:extLst>
          </p:cNvPr>
          <p:cNvSpPr>
            <a:spLocks noGrp="1"/>
          </p:cNvSpPr>
          <p:nvPr/>
        </p:nvSpPr>
        <p:spPr>
          <a:xfrm>
            <a:off x="5905500" y="3962400"/>
            <a:ext cx="4457700" cy="0"/>
          </a:xfrm>
          <a:prstGeom prst="line">
            <a:avLst/>
          </a:prstGeom>
          <a:noFill/>
          <a:ln w="9525">
            <a:solidFill>
              <a:srgbClr val="D8CDB9"/>
            </a:solidFill>
            <a:prstDash val="solid"/>
          </a:ln>
        </p:spPr>
        <p:txBody>
          <a:bodyPr/>
          <a:lstStyle/>
          <a:p>
            <a:endParaRPr lang="en-DE"/>
          </a:p>
        </p:txBody>
      </p:sp>
      <p:sp>
        <p:nvSpPr>
          <p:cNvPr id="13" name="Rectangle 12">
            <a:extLst>
              <a:ext uri="{FF2B5EF4-FFF2-40B4-BE49-F238E27FC236}">
                <a16:creationId xmlns:a16="http://schemas.microsoft.com/office/drawing/2014/main" id="{AAD86008-C1CA-4B96-8602-57AA8F423233}"/>
              </a:ext>
            </a:extLst>
          </p:cNvPr>
          <p:cNvSpPr>
            <a:spLocks noGrp="1"/>
          </p:cNvSpPr>
          <p:nvPr/>
        </p:nvSpPr>
        <p:spPr>
          <a:xfrm>
            <a:off x="5905500" y="4210050"/>
            <a:ext cx="514350" cy="457200"/>
          </a:xfrm>
          <a:prstGeom prst="rect">
            <a:avLst/>
          </a:prstGeom>
          <a:noFill/>
          <a:ln w="0">
            <a:noFill/>
          </a:ln>
        </p:spPr>
        <p:txBody>
          <a:bodyPr anchor="ctr">
            <a:normAutofit/>
          </a:bodyPr>
          <a:lstStyle/>
          <a:p>
            <a:pPr algn="l">
              <a:lnSpc>
                <a:spcPct val="100000"/>
              </a:lnSpc>
              <a:buNone/>
              <a:defRPr sz="1350" b="1">
                <a:solidFill>
                  <a:srgbClr val="BE2F9F"/>
                </a:solidFill>
                <a:latin typeface="Aptos"/>
                <a:ea typeface="Aptos"/>
                <a:cs typeface="Aptos"/>
              </a:defRPr>
            </a:pPr>
            <a:r>
              <a:rPr sz="1350" b="1">
                <a:solidFill>
                  <a:srgbClr val="BE2F9F"/>
                </a:solidFill>
                <a:latin typeface="Aptos"/>
                <a:ea typeface="Aptos"/>
                <a:cs typeface="Aptos"/>
              </a:rPr>
              <a:t>03</a:t>
            </a:r>
          </a:p>
        </p:txBody>
      </p:sp>
      <p:sp>
        <p:nvSpPr>
          <p:cNvPr id="14" name="Rectangle 13">
            <a:extLst>
              <a:ext uri="{FF2B5EF4-FFF2-40B4-BE49-F238E27FC236}">
                <a16:creationId xmlns:a16="http://schemas.microsoft.com/office/drawing/2014/main" id="{5FF38212-8944-4AEA-B9F1-75CF9CD8F89C}"/>
              </a:ext>
            </a:extLst>
          </p:cNvPr>
          <p:cNvSpPr>
            <a:spLocks noGrp="1"/>
          </p:cNvSpPr>
          <p:nvPr/>
        </p:nvSpPr>
        <p:spPr>
          <a:xfrm>
            <a:off x="6591300" y="4143375"/>
            <a:ext cx="4095750" cy="590550"/>
          </a:xfrm>
          <a:prstGeom prst="rect">
            <a:avLst/>
          </a:prstGeom>
          <a:noFill/>
          <a:ln w="0">
            <a:noFill/>
          </a:ln>
        </p:spPr>
        <p:txBody>
          <a:bodyPr anchor="ctr">
            <a:normAutofit/>
          </a:bodyPr>
          <a:lstStyle/>
          <a:p>
            <a:pPr algn="l">
              <a:lnSpc>
                <a:spcPct val="100000"/>
              </a:lnSpc>
              <a:buNone/>
              <a:defRPr sz="2250" b="1">
                <a:solidFill>
                  <a:srgbClr val="181611"/>
                </a:solidFill>
                <a:latin typeface="Aptos"/>
                <a:ea typeface="Aptos"/>
                <a:cs typeface="Aptos"/>
              </a:defRPr>
            </a:pPr>
            <a:r>
              <a:rPr sz="2250" b="1">
                <a:solidFill>
                  <a:srgbClr val="181611"/>
                </a:solidFill>
                <a:latin typeface="Aptos"/>
                <a:ea typeface="Aptos"/>
                <a:cs typeface="Aptos"/>
              </a:rPr>
              <a:t>Choose what success feels like</a:t>
            </a:r>
          </a:p>
        </p:txBody>
      </p:sp>
      <p:pic>
        <p:nvPicPr>
          <p:cNvPr id="31" name="Picture 30"/>
          <p:cNvPicPr>
            <a:picLocks noChangeAspect="1"/>
          </p:cNvPicPr>
          <p:nvPr/>
        </p:nvPicPr>
        <p:blipFill>
          <a:blip r:embed="rId3"/>
          <a:stretch/>
        </p:blipFill>
        <p:spPr>
          <a:xfrm>
            <a:off x="10294176" y="4476750"/>
            <a:ext cx="1033397" cy="1571625"/>
          </a:xfrm>
          <a:prstGeom prst="rect">
            <a:avLst/>
          </a:prstGeom>
        </p:spPr>
      </p:pic>
      <p:sp>
        <p:nvSpPr>
          <p:cNvPr id="16" name="Rectangle 15">
            <a:extLst>
              <a:ext uri="{FF2B5EF4-FFF2-40B4-BE49-F238E27FC236}">
                <a16:creationId xmlns:a16="http://schemas.microsoft.com/office/drawing/2014/main" id="{A4640365-DD16-4503-8221-1D3223541D9C}"/>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02</a:t>
            </a:r>
          </a:p>
        </p:txBody>
      </p:sp>
    </p:spTree>
    <p:extLst>
      <p:ext uri="{BB962C8B-B14F-4D97-AF65-F5344CB8AC3E}">
        <p14:creationId xmlns:p14="http://schemas.microsoft.com/office/powerpoint/2010/main" val="1562869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BF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F9D4B3A-0EAE-48EE-81DC-09DB2EC63EC3}"/>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BEFORE TOUCHING AI</a:t>
            </a:r>
          </a:p>
        </p:txBody>
      </p:sp>
      <p:sp>
        <p:nvSpPr>
          <p:cNvPr id="2" name="Rectangle 1">
            <a:extLst>
              <a:ext uri="{FF2B5EF4-FFF2-40B4-BE49-F238E27FC236}">
                <a16:creationId xmlns:a16="http://schemas.microsoft.com/office/drawing/2014/main" id="{076947E5-4F18-40F6-8DEB-662632F256E5}"/>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Four decisions. Five minutes.</a:t>
            </a:r>
          </a:p>
        </p:txBody>
      </p:sp>
      <p:sp>
        <p:nvSpPr>
          <p:cNvPr id="3" name="Rectangle 2">
            <a:extLst>
              <a:ext uri="{FF2B5EF4-FFF2-40B4-BE49-F238E27FC236}">
                <a16:creationId xmlns:a16="http://schemas.microsoft.com/office/drawing/2014/main" id="{B9F7B8AD-114B-42FA-9192-5C12F98CAB13}"/>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Write one short answer for each.</a:t>
            </a:r>
          </a:p>
        </p:txBody>
      </p:sp>
      <p:sp>
        <p:nvSpPr>
          <p:cNvPr id="4" name="Rectangle: Rounded Corners 3">
            <a:extLst>
              <a:ext uri="{FF2B5EF4-FFF2-40B4-BE49-F238E27FC236}">
                <a16:creationId xmlns:a16="http://schemas.microsoft.com/office/drawing/2014/main" id="{9991BDE6-8664-4A4A-B65A-559F737ECF8D}"/>
              </a:ext>
            </a:extLst>
          </p:cNvPr>
          <p:cNvSpPr>
            <a:spLocks noGrp="1"/>
          </p:cNvSpPr>
          <p:nvPr/>
        </p:nvSpPr>
        <p:spPr>
          <a:xfrm>
            <a:off x="666750" y="2209800"/>
            <a:ext cx="4343400" cy="1409700"/>
          </a:xfrm>
          <a:prstGeom prst="roundRect">
            <a:avLst>
              <a:gd name="adj" fmla="val 5405"/>
            </a:avLst>
          </a:prstGeom>
          <a:solidFill>
            <a:srgbClr val="DDE8FF"/>
          </a:solidFill>
          <a:ln w="9525">
            <a:solidFill>
              <a:srgbClr val="2F6FED"/>
            </a:solidFill>
            <a:prstDash val="solid"/>
          </a:ln>
        </p:spPr>
        <p:txBody>
          <a:bodyPr/>
          <a:lstStyle/>
          <a:p>
            <a:endParaRPr lang="en-DE"/>
          </a:p>
        </p:txBody>
      </p:sp>
      <p:sp>
        <p:nvSpPr>
          <p:cNvPr id="5" name="Rectangle 4">
            <a:extLst>
              <a:ext uri="{FF2B5EF4-FFF2-40B4-BE49-F238E27FC236}">
                <a16:creationId xmlns:a16="http://schemas.microsoft.com/office/drawing/2014/main" id="{87E252ED-37EA-4C52-903F-B08F6FE558DD}"/>
              </a:ext>
            </a:extLst>
          </p:cNvPr>
          <p:cNvSpPr>
            <a:spLocks noGrp="1"/>
          </p:cNvSpPr>
          <p:nvPr/>
        </p:nvSpPr>
        <p:spPr>
          <a:xfrm>
            <a:off x="895350" y="2381250"/>
            <a:ext cx="1123950" cy="323850"/>
          </a:xfrm>
          <a:prstGeom prst="rect">
            <a:avLst/>
          </a:prstGeom>
          <a:noFill/>
          <a:ln w="0">
            <a:noFill/>
          </a:ln>
        </p:spPr>
        <p:txBody>
          <a:bodyPr anchor="ctr">
            <a:normAutofit/>
          </a:bodyPr>
          <a:lstStyle/>
          <a:p>
            <a:pPr algn="l">
              <a:lnSpc>
                <a:spcPct val="100000"/>
              </a:lnSpc>
              <a:buNone/>
              <a:defRPr sz="1350" b="1">
                <a:solidFill>
                  <a:srgbClr val="2F6FED"/>
                </a:solidFill>
                <a:latin typeface="Aptos"/>
                <a:ea typeface="Aptos"/>
                <a:cs typeface="Aptos"/>
              </a:defRPr>
            </a:pPr>
            <a:r>
              <a:rPr sz="1350" b="1">
                <a:solidFill>
                  <a:srgbClr val="2F6FED"/>
                </a:solidFill>
                <a:latin typeface="Aptos"/>
                <a:ea typeface="Aptos"/>
                <a:cs typeface="Aptos"/>
              </a:rPr>
              <a:t>WHO</a:t>
            </a:r>
          </a:p>
        </p:txBody>
      </p:sp>
      <p:sp>
        <p:nvSpPr>
          <p:cNvPr id="6" name="Rectangle 5">
            <a:extLst>
              <a:ext uri="{FF2B5EF4-FFF2-40B4-BE49-F238E27FC236}">
                <a16:creationId xmlns:a16="http://schemas.microsoft.com/office/drawing/2014/main" id="{C7E62E6C-7AFA-487F-96E9-8F5C1C9B503E}"/>
              </a:ext>
            </a:extLst>
          </p:cNvPr>
          <p:cNvSpPr>
            <a:spLocks noGrp="1"/>
          </p:cNvSpPr>
          <p:nvPr/>
        </p:nvSpPr>
        <p:spPr>
          <a:xfrm>
            <a:off x="895350" y="2733675"/>
            <a:ext cx="3790950" cy="666750"/>
          </a:xfrm>
          <a:prstGeom prst="rect">
            <a:avLst/>
          </a:prstGeom>
          <a:noFill/>
          <a:ln w="0">
            <a:noFill/>
          </a:ln>
        </p:spPr>
        <p:txBody>
          <a:bodyPr anchor="ctr">
            <a:normAutofit/>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Who is this for?</a:t>
            </a:r>
          </a:p>
        </p:txBody>
      </p:sp>
      <p:sp>
        <p:nvSpPr>
          <p:cNvPr id="7" name="Rectangle: Rounded Corners 6">
            <a:extLst>
              <a:ext uri="{FF2B5EF4-FFF2-40B4-BE49-F238E27FC236}">
                <a16:creationId xmlns:a16="http://schemas.microsoft.com/office/drawing/2014/main" id="{EEF5A177-56D1-4FA4-B288-7ADCD4CB0683}"/>
              </a:ext>
            </a:extLst>
          </p:cNvPr>
          <p:cNvSpPr>
            <a:spLocks noGrp="1"/>
          </p:cNvSpPr>
          <p:nvPr/>
        </p:nvSpPr>
        <p:spPr>
          <a:xfrm>
            <a:off x="5429250" y="2209800"/>
            <a:ext cx="4343400" cy="1409700"/>
          </a:xfrm>
          <a:prstGeom prst="roundRect">
            <a:avLst>
              <a:gd name="adj" fmla="val 5405"/>
            </a:avLst>
          </a:prstGeom>
          <a:solidFill>
            <a:srgbClr val="F1D9EB"/>
          </a:solidFill>
          <a:ln w="9525">
            <a:solidFill>
              <a:srgbClr val="BE2F9F"/>
            </a:solidFill>
            <a:prstDash val="solid"/>
          </a:ln>
        </p:spPr>
        <p:txBody>
          <a:bodyPr/>
          <a:lstStyle/>
          <a:p>
            <a:endParaRPr lang="en-DE"/>
          </a:p>
        </p:txBody>
      </p:sp>
      <p:sp>
        <p:nvSpPr>
          <p:cNvPr id="8" name="Rectangle 7">
            <a:extLst>
              <a:ext uri="{FF2B5EF4-FFF2-40B4-BE49-F238E27FC236}">
                <a16:creationId xmlns:a16="http://schemas.microsoft.com/office/drawing/2014/main" id="{D425D3D8-CA72-49F9-B6AC-45DD401BE708}"/>
              </a:ext>
            </a:extLst>
          </p:cNvPr>
          <p:cNvSpPr>
            <a:spLocks noGrp="1"/>
          </p:cNvSpPr>
          <p:nvPr/>
        </p:nvSpPr>
        <p:spPr>
          <a:xfrm>
            <a:off x="5657850" y="2381250"/>
            <a:ext cx="1123950" cy="323850"/>
          </a:xfrm>
          <a:prstGeom prst="rect">
            <a:avLst/>
          </a:prstGeom>
          <a:noFill/>
          <a:ln w="0">
            <a:noFill/>
          </a:ln>
        </p:spPr>
        <p:txBody>
          <a:bodyPr anchor="ctr">
            <a:normAutofit/>
          </a:bodyPr>
          <a:lstStyle/>
          <a:p>
            <a:pPr algn="l">
              <a:lnSpc>
                <a:spcPct val="100000"/>
              </a:lnSpc>
              <a:buNone/>
              <a:defRPr sz="1350" b="1">
                <a:solidFill>
                  <a:srgbClr val="BE2F9F"/>
                </a:solidFill>
                <a:latin typeface="Aptos"/>
                <a:ea typeface="Aptos"/>
                <a:cs typeface="Aptos"/>
              </a:defRPr>
            </a:pPr>
            <a:r>
              <a:rPr sz="1350" b="1">
                <a:solidFill>
                  <a:srgbClr val="BE2F9F"/>
                </a:solidFill>
                <a:latin typeface="Aptos"/>
                <a:ea typeface="Aptos"/>
                <a:cs typeface="Aptos"/>
              </a:rPr>
              <a:t>FEEL</a:t>
            </a:r>
          </a:p>
        </p:txBody>
      </p:sp>
      <p:sp>
        <p:nvSpPr>
          <p:cNvPr id="9" name="Rectangle 8">
            <a:extLst>
              <a:ext uri="{FF2B5EF4-FFF2-40B4-BE49-F238E27FC236}">
                <a16:creationId xmlns:a16="http://schemas.microsoft.com/office/drawing/2014/main" id="{C8F2B8DC-BD3B-458B-B5AE-94BBFE0AC7DD}"/>
              </a:ext>
            </a:extLst>
          </p:cNvPr>
          <p:cNvSpPr>
            <a:spLocks noGrp="1"/>
          </p:cNvSpPr>
          <p:nvPr/>
        </p:nvSpPr>
        <p:spPr>
          <a:xfrm>
            <a:off x="5657850" y="2733675"/>
            <a:ext cx="3790950" cy="666750"/>
          </a:xfrm>
          <a:prstGeom prst="rect">
            <a:avLst/>
          </a:prstGeom>
          <a:noFill/>
          <a:ln w="0">
            <a:noFill/>
          </a:ln>
        </p:spPr>
        <p:txBody>
          <a:bodyPr anchor="ctr">
            <a:normAutofit/>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What should they feel?</a:t>
            </a:r>
          </a:p>
        </p:txBody>
      </p:sp>
      <p:sp>
        <p:nvSpPr>
          <p:cNvPr id="10" name="Rectangle: Rounded Corners 9">
            <a:extLst>
              <a:ext uri="{FF2B5EF4-FFF2-40B4-BE49-F238E27FC236}">
                <a16:creationId xmlns:a16="http://schemas.microsoft.com/office/drawing/2014/main" id="{5CB0C8AC-A42F-4EEA-A612-6D0B24CB7AAD}"/>
              </a:ext>
            </a:extLst>
          </p:cNvPr>
          <p:cNvSpPr>
            <a:spLocks noGrp="1"/>
          </p:cNvSpPr>
          <p:nvPr/>
        </p:nvSpPr>
        <p:spPr>
          <a:xfrm>
            <a:off x="666750" y="3971925"/>
            <a:ext cx="4343400" cy="1409700"/>
          </a:xfrm>
          <a:prstGeom prst="roundRect">
            <a:avLst>
              <a:gd name="adj" fmla="val 5405"/>
            </a:avLst>
          </a:prstGeom>
          <a:solidFill>
            <a:srgbClr val="DCEFE5"/>
          </a:solidFill>
          <a:ln w="9525">
            <a:solidFill>
              <a:srgbClr val="26845A"/>
            </a:solidFill>
            <a:prstDash val="solid"/>
          </a:ln>
        </p:spPr>
        <p:txBody>
          <a:bodyPr/>
          <a:lstStyle/>
          <a:p>
            <a:endParaRPr lang="en-DE"/>
          </a:p>
        </p:txBody>
      </p:sp>
      <p:sp>
        <p:nvSpPr>
          <p:cNvPr id="11" name="Rectangle 10">
            <a:extLst>
              <a:ext uri="{FF2B5EF4-FFF2-40B4-BE49-F238E27FC236}">
                <a16:creationId xmlns:a16="http://schemas.microsoft.com/office/drawing/2014/main" id="{0076D398-B61C-46CE-9E1F-99E6EA60E228}"/>
              </a:ext>
            </a:extLst>
          </p:cNvPr>
          <p:cNvSpPr>
            <a:spLocks noGrp="1"/>
          </p:cNvSpPr>
          <p:nvPr/>
        </p:nvSpPr>
        <p:spPr>
          <a:xfrm>
            <a:off x="895350" y="4143375"/>
            <a:ext cx="1123950" cy="323850"/>
          </a:xfrm>
          <a:prstGeom prst="rect">
            <a:avLst/>
          </a:prstGeom>
          <a:noFill/>
          <a:ln w="0">
            <a:noFill/>
          </a:ln>
        </p:spPr>
        <p:txBody>
          <a:bodyPr anchor="ctr">
            <a:normAutofit/>
          </a:bodyPr>
          <a:lstStyle/>
          <a:p>
            <a:pPr algn="l">
              <a:lnSpc>
                <a:spcPct val="100000"/>
              </a:lnSpc>
              <a:buNone/>
              <a:defRPr sz="1350" b="1">
                <a:solidFill>
                  <a:srgbClr val="26845A"/>
                </a:solidFill>
                <a:latin typeface="Aptos"/>
                <a:ea typeface="Aptos"/>
                <a:cs typeface="Aptos"/>
              </a:defRPr>
            </a:pPr>
            <a:r>
              <a:rPr sz="1350" b="1">
                <a:solidFill>
                  <a:srgbClr val="26845A"/>
                </a:solidFill>
                <a:latin typeface="Aptos"/>
                <a:ea typeface="Aptos"/>
                <a:cs typeface="Aptos"/>
              </a:rPr>
              <a:t>DO</a:t>
            </a:r>
          </a:p>
        </p:txBody>
      </p:sp>
      <p:sp>
        <p:nvSpPr>
          <p:cNvPr id="12" name="Rectangle 11">
            <a:extLst>
              <a:ext uri="{FF2B5EF4-FFF2-40B4-BE49-F238E27FC236}">
                <a16:creationId xmlns:a16="http://schemas.microsoft.com/office/drawing/2014/main" id="{773176D1-2409-48D3-BF85-48A14AEA1F7C}"/>
              </a:ext>
            </a:extLst>
          </p:cNvPr>
          <p:cNvSpPr>
            <a:spLocks noGrp="1"/>
          </p:cNvSpPr>
          <p:nvPr/>
        </p:nvSpPr>
        <p:spPr>
          <a:xfrm>
            <a:off x="895350" y="4495800"/>
            <a:ext cx="3790950" cy="666750"/>
          </a:xfrm>
          <a:prstGeom prst="rect">
            <a:avLst/>
          </a:prstGeom>
          <a:noFill/>
          <a:ln w="0">
            <a:noFill/>
          </a:ln>
        </p:spPr>
        <p:txBody>
          <a:bodyPr anchor="ctr">
            <a:normAutofit fontScale="92526"/>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What do they do again and again?</a:t>
            </a:r>
          </a:p>
        </p:txBody>
      </p:sp>
      <p:sp>
        <p:nvSpPr>
          <p:cNvPr id="13" name="Rectangle: Rounded Corners 12">
            <a:extLst>
              <a:ext uri="{FF2B5EF4-FFF2-40B4-BE49-F238E27FC236}">
                <a16:creationId xmlns:a16="http://schemas.microsoft.com/office/drawing/2014/main" id="{4A117744-BAD2-481F-8F7B-A332573729F1}"/>
              </a:ext>
            </a:extLst>
          </p:cNvPr>
          <p:cNvSpPr>
            <a:spLocks noGrp="1"/>
          </p:cNvSpPr>
          <p:nvPr/>
        </p:nvSpPr>
        <p:spPr>
          <a:xfrm>
            <a:off x="5429250" y="3971925"/>
            <a:ext cx="4343400" cy="1409700"/>
          </a:xfrm>
          <a:prstGeom prst="roundRect">
            <a:avLst>
              <a:gd name="adj" fmla="val 5405"/>
            </a:avLst>
          </a:prstGeom>
          <a:solidFill>
            <a:srgbClr val="F3E7CC"/>
          </a:solidFill>
          <a:ln w="9525">
            <a:solidFill>
              <a:srgbClr val="C69A4B"/>
            </a:solidFill>
            <a:prstDash val="solid"/>
          </a:ln>
        </p:spPr>
        <p:txBody>
          <a:bodyPr/>
          <a:lstStyle/>
          <a:p>
            <a:endParaRPr lang="en-DE"/>
          </a:p>
        </p:txBody>
      </p:sp>
      <p:sp>
        <p:nvSpPr>
          <p:cNvPr id="14" name="Rectangle 13">
            <a:extLst>
              <a:ext uri="{FF2B5EF4-FFF2-40B4-BE49-F238E27FC236}">
                <a16:creationId xmlns:a16="http://schemas.microsoft.com/office/drawing/2014/main" id="{90B8C620-42B0-486C-969A-84AFB7E9A61E}"/>
              </a:ext>
            </a:extLst>
          </p:cNvPr>
          <p:cNvSpPr>
            <a:spLocks noGrp="1"/>
          </p:cNvSpPr>
          <p:nvPr/>
        </p:nvSpPr>
        <p:spPr>
          <a:xfrm>
            <a:off x="5657850" y="4143375"/>
            <a:ext cx="1123950" cy="323850"/>
          </a:xfrm>
          <a:prstGeom prst="rect">
            <a:avLst/>
          </a:prstGeom>
          <a:noFill/>
          <a:ln w="0">
            <a:noFill/>
          </a:ln>
        </p:spPr>
        <p:txBody>
          <a:bodyPr anchor="ctr">
            <a:normAutofit/>
          </a:bodyPr>
          <a:lstStyle/>
          <a:p>
            <a:pPr algn="l">
              <a:lnSpc>
                <a:spcPct val="100000"/>
              </a:lnSpc>
              <a:buNone/>
              <a:defRPr sz="1350" b="1">
                <a:solidFill>
                  <a:srgbClr val="C69A4B"/>
                </a:solidFill>
                <a:latin typeface="Aptos"/>
                <a:ea typeface="Aptos"/>
                <a:cs typeface="Aptos"/>
              </a:defRPr>
            </a:pPr>
            <a:r>
              <a:rPr sz="1350" b="1">
                <a:solidFill>
                  <a:srgbClr val="C69A4B"/>
                </a:solidFill>
                <a:latin typeface="Aptos"/>
                <a:ea typeface="Aptos"/>
                <a:cs typeface="Aptos"/>
              </a:rPr>
              <a:t>WIN</a:t>
            </a:r>
          </a:p>
        </p:txBody>
      </p:sp>
      <p:sp>
        <p:nvSpPr>
          <p:cNvPr id="15" name="Rectangle 14">
            <a:extLst>
              <a:ext uri="{FF2B5EF4-FFF2-40B4-BE49-F238E27FC236}">
                <a16:creationId xmlns:a16="http://schemas.microsoft.com/office/drawing/2014/main" id="{7C4D2B23-2963-4E9E-B98B-8EB571924CD1}"/>
              </a:ext>
            </a:extLst>
          </p:cNvPr>
          <p:cNvSpPr>
            <a:spLocks noGrp="1"/>
          </p:cNvSpPr>
          <p:nvPr/>
        </p:nvSpPr>
        <p:spPr>
          <a:xfrm>
            <a:off x="5657850" y="4495800"/>
            <a:ext cx="3790950" cy="666750"/>
          </a:xfrm>
          <a:prstGeom prst="rect">
            <a:avLst/>
          </a:prstGeom>
          <a:noFill/>
          <a:ln w="0">
            <a:noFill/>
          </a:ln>
        </p:spPr>
        <p:txBody>
          <a:bodyPr anchor="ctr">
            <a:normAutofit/>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How do they know it worked?</a:t>
            </a:r>
          </a:p>
        </p:txBody>
      </p:sp>
      <p:pic>
        <p:nvPicPr>
          <p:cNvPr id="33" name="Picture 32"/>
          <p:cNvPicPr>
            <a:picLocks noChangeAspect="1"/>
          </p:cNvPicPr>
          <p:nvPr/>
        </p:nvPicPr>
        <p:blipFill>
          <a:blip r:embed="rId3"/>
          <a:stretch/>
        </p:blipFill>
        <p:spPr>
          <a:xfrm>
            <a:off x="9715500" y="2518172"/>
            <a:ext cx="1952625" cy="2440781"/>
          </a:xfrm>
          <a:prstGeom prst="rect">
            <a:avLst/>
          </a:prstGeom>
        </p:spPr>
      </p:pic>
      <p:sp>
        <p:nvSpPr>
          <p:cNvPr id="17" name="Rectangle 16">
            <a:extLst>
              <a:ext uri="{FF2B5EF4-FFF2-40B4-BE49-F238E27FC236}">
                <a16:creationId xmlns:a16="http://schemas.microsoft.com/office/drawing/2014/main" id="{D95DD8A1-6141-413A-BF79-D4D199EE4F41}"/>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03</a:t>
            </a:r>
          </a:p>
        </p:txBody>
      </p:sp>
    </p:spTree>
    <p:extLst>
      <p:ext uri="{BB962C8B-B14F-4D97-AF65-F5344CB8AC3E}">
        <p14:creationId xmlns:p14="http://schemas.microsoft.com/office/powerpoint/2010/main" val="139378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40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83D773-9991-4B01-8CB0-CFCE547FA8B3}"/>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C69A4B"/>
                </a:solidFill>
                <a:latin typeface="Aptos"/>
                <a:ea typeface="Aptos"/>
                <a:cs typeface="Aptos"/>
              </a:defRPr>
            </a:pPr>
            <a:r>
              <a:rPr sz="1125" b="1">
                <a:solidFill>
                  <a:srgbClr val="C69A4B"/>
                </a:solidFill>
                <a:latin typeface="Aptos"/>
                <a:ea typeface="Aptos"/>
                <a:cs typeface="Aptos"/>
              </a:rPr>
              <a:t>PROMPT SPRINT · 2 MINUTES</a:t>
            </a:r>
          </a:p>
        </p:txBody>
      </p:sp>
      <p:sp>
        <p:nvSpPr>
          <p:cNvPr id="2" name="Rectangle 1">
            <a:extLst>
              <a:ext uri="{FF2B5EF4-FFF2-40B4-BE49-F238E27FC236}">
                <a16:creationId xmlns:a16="http://schemas.microsoft.com/office/drawing/2014/main" id="{8BD45F70-3E11-46A7-A22A-9608C9B645AA}"/>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FFF8E8"/>
                </a:solidFill>
                <a:latin typeface="Aptos Display"/>
                <a:ea typeface="Aptos Display"/>
                <a:cs typeface="Aptos Display"/>
              </a:defRPr>
            </a:pPr>
            <a:r>
              <a:rPr sz="3750" b="1">
                <a:solidFill>
                  <a:srgbClr val="FFF8E8"/>
                </a:solidFill>
                <a:latin typeface="Aptos Display"/>
                <a:ea typeface="Aptos Display"/>
                <a:cs typeface="Aptos Display"/>
              </a:rPr>
              <a:t>Write alone. Then combine the strongest parts.</a:t>
            </a:r>
          </a:p>
        </p:txBody>
      </p:sp>
      <p:sp>
        <p:nvSpPr>
          <p:cNvPr id="3" name="Rectangle: Rounded Corners 2">
            <a:extLst>
              <a:ext uri="{FF2B5EF4-FFF2-40B4-BE49-F238E27FC236}">
                <a16:creationId xmlns:a16="http://schemas.microsoft.com/office/drawing/2014/main" id="{03FE55DC-8CE7-4E1F-96E2-1FC44BA49834}"/>
              </a:ext>
            </a:extLst>
          </p:cNvPr>
          <p:cNvSpPr>
            <a:spLocks noGrp="1"/>
          </p:cNvSpPr>
          <p:nvPr/>
        </p:nvSpPr>
        <p:spPr>
          <a:xfrm>
            <a:off x="628650" y="1952625"/>
            <a:ext cx="8334375" cy="3733800"/>
          </a:xfrm>
          <a:prstGeom prst="roundRect">
            <a:avLst>
              <a:gd name="adj" fmla="val 2041"/>
            </a:avLst>
          </a:prstGeom>
          <a:solidFill>
            <a:srgbClr val="252017"/>
          </a:solidFill>
          <a:ln w="9525">
            <a:solidFill>
              <a:srgbClr val="4A4031"/>
            </a:solidFill>
            <a:prstDash val="solid"/>
          </a:ln>
        </p:spPr>
        <p:txBody>
          <a:bodyPr/>
          <a:lstStyle/>
          <a:p>
            <a:endParaRPr lang="en-DE"/>
          </a:p>
        </p:txBody>
      </p:sp>
      <p:sp>
        <p:nvSpPr>
          <p:cNvPr id="4" name="Rectangle 3">
            <a:extLst>
              <a:ext uri="{FF2B5EF4-FFF2-40B4-BE49-F238E27FC236}">
                <a16:creationId xmlns:a16="http://schemas.microsoft.com/office/drawing/2014/main" id="{F988815E-6992-4D1B-B3FC-FAB63C8BA497}"/>
              </a:ext>
            </a:extLst>
          </p:cNvPr>
          <p:cNvSpPr>
            <a:spLocks noGrp="1"/>
          </p:cNvSpPr>
          <p:nvPr/>
        </p:nvSpPr>
        <p:spPr>
          <a:xfrm>
            <a:off x="990600" y="2286000"/>
            <a:ext cx="7334250" cy="476250"/>
          </a:xfrm>
          <a:prstGeom prst="rect">
            <a:avLst/>
          </a:prstGeom>
          <a:noFill/>
          <a:ln w="0">
            <a:noFill/>
          </a:ln>
        </p:spPr>
        <p:txBody>
          <a:bodyPr anchor="ctr">
            <a:normAutofit fontScale="99020"/>
          </a:bodyPr>
          <a:lstStyle/>
          <a:p>
            <a:pPr algn="l">
              <a:lnSpc>
                <a:spcPct val="100000"/>
              </a:lnSpc>
              <a:buNone/>
              <a:defRPr sz="2550" b="1">
                <a:solidFill>
                  <a:srgbClr val="FFF8E8"/>
                </a:solidFill>
                <a:latin typeface="Aptos Display"/>
                <a:ea typeface="Aptos Display"/>
                <a:cs typeface="Aptos Display"/>
              </a:defRPr>
            </a:pPr>
            <a:r>
              <a:rPr sz="2550" b="1">
                <a:solidFill>
                  <a:srgbClr val="FFF8E8"/>
                </a:solidFill>
                <a:latin typeface="Aptos Display"/>
                <a:ea typeface="Aptos Display"/>
                <a:cs typeface="Aptos Display"/>
              </a:rPr>
              <a:t>Build a [TYPE OF GAME]</a:t>
            </a:r>
          </a:p>
        </p:txBody>
      </p:sp>
      <p:sp>
        <p:nvSpPr>
          <p:cNvPr id="5" name="Rectangle 4">
            <a:extLst>
              <a:ext uri="{FF2B5EF4-FFF2-40B4-BE49-F238E27FC236}">
                <a16:creationId xmlns:a16="http://schemas.microsoft.com/office/drawing/2014/main" id="{E6F6C78C-963F-4BC1-8EC3-CCCE51D75D32}"/>
              </a:ext>
            </a:extLst>
          </p:cNvPr>
          <p:cNvSpPr>
            <a:spLocks noGrp="1"/>
          </p:cNvSpPr>
          <p:nvPr/>
        </p:nvSpPr>
        <p:spPr>
          <a:xfrm>
            <a:off x="990600" y="2952750"/>
            <a:ext cx="7334250" cy="476250"/>
          </a:xfrm>
          <a:prstGeom prst="rect">
            <a:avLst/>
          </a:prstGeom>
          <a:noFill/>
          <a:ln w="0">
            <a:noFill/>
          </a:ln>
        </p:spPr>
        <p:txBody>
          <a:bodyPr anchor="ctr">
            <a:normAutofit fontScale="99020"/>
          </a:bodyPr>
          <a:lstStyle/>
          <a:p>
            <a:pPr algn="l">
              <a:lnSpc>
                <a:spcPct val="100000"/>
              </a:lnSpc>
              <a:buNone/>
              <a:defRPr sz="2550" b="1">
                <a:solidFill>
                  <a:srgbClr val="2F6FED"/>
                </a:solidFill>
                <a:latin typeface="Aptos Display"/>
                <a:ea typeface="Aptos Display"/>
                <a:cs typeface="Aptos Display"/>
              </a:defRPr>
            </a:pPr>
            <a:r>
              <a:rPr sz="2550" b="1">
                <a:solidFill>
                  <a:srgbClr val="2F6FED"/>
                </a:solidFill>
                <a:latin typeface="Aptos Display"/>
                <a:ea typeface="Aptos Display"/>
                <a:cs typeface="Aptos Display"/>
              </a:rPr>
              <a:t>for [ONE SPECIFIC PLAYER]</a:t>
            </a:r>
          </a:p>
        </p:txBody>
      </p:sp>
      <p:sp>
        <p:nvSpPr>
          <p:cNvPr id="6" name="Rectangle 5">
            <a:extLst>
              <a:ext uri="{FF2B5EF4-FFF2-40B4-BE49-F238E27FC236}">
                <a16:creationId xmlns:a16="http://schemas.microsoft.com/office/drawing/2014/main" id="{C070B30B-FEA6-4C02-ABC9-2EE2B7F3BEE8}"/>
              </a:ext>
            </a:extLst>
          </p:cNvPr>
          <p:cNvSpPr>
            <a:spLocks noGrp="1"/>
          </p:cNvSpPr>
          <p:nvPr/>
        </p:nvSpPr>
        <p:spPr>
          <a:xfrm>
            <a:off x="990600" y="3619500"/>
            <a:ext cx="7334250" cy="476250"/>
          </a:xfrm>
          <a:prstGeom prst="rect">
            <a:avLst/>
          </a:prstGeom>
          <a:noFill/>
          <a:ln w="0">
            <a:noFill/>
          </a:ln>
        </p:spPr>
        <p:txBody>
          <a:bodyPr anchor="ctr">
            <a:normAutofit fontScale="99020"/>
          </a:bodyPr>
          <a:lstStyle/>
          <a:p>
            <a:pPr algn="l">
              <a:lnSpc>
                <a:spcPct val="100000"/>
              </a:lnSpc>
              <a:buNone/>
              <a:defRPr sz="2550" b="1">
                <a:solidFill>
                  <a:srgbClr val="E76FCB"/>
                </a:solidFill>
                <a:latin typeface="Aptos Display"/>
                <a:ea typeface="Aptos Display"/>
                <a:cs typeface="Aptos Display"/>
              </a:defRPr>
            </a:pPr>
            <a:r>
              <a:rPr sz="2550" b="1">
                <a:solidFill>
                  <a:srgbClr val="E76FCB"/>
                </a:solidFill>
                <a:latin typeface="Aptos Display"/>
                <a:ea typeface="Aptos Display"/>
                <a:cs typeface="Aptos Display"/>
              </a:rPr>
              <a:t>who should feel [ONE FEELING].</a:t>
            </a:r>
          </a:p>
        </p:txBody>
      </p:sp>
      <p:sp>
        <p:nvSpPr>
          <p:cNvPr id="7" name="Rectangle 6">
            <a:extLst>
              <a:ext uri="{FF2B5EF4-FFF2-40B4-BE49-F238E27FC236}">
                <a16:creationId xmlns:a16="http://schemas.microsoft.com/office/drawing/2014/main" id="{CB498198-95FA-41E4-812D-577FA2A18022}"/>
              </a:ext>
            </a:extLst>
          </p:cNvPr>
          <p:cNvSpPr>
            <a:spLocks noGrp="1"/>
          </p:cNvSpPr>
          <p:nvPr/>
        </p:nvSpPr>
        <p:spPr>
          <a:xfrm>
            <a:off x="990600" y="4286250"/>
            <a:ext cx="7334250" cy="857250"/>
          </a:xfrm>
          <a:prstGeom prst="rect">
            <a:avLst/>
          </a:prstGeom>
          <a:noFill/>
          <a:ln w="0">
            <a:noFill/>
          </a:ln>
        </p:spPr>
        <p:txBody>
          <a:bodyPr anchor="ctr">
            <a:normAutofit fontScale="98529"/>
          </a:bodyPr>
          <a:lstStyle/>
          <a:p>
            <a:pPr algn="l">
              <a:lnSpc>
                <a:spcPct val="100000"/>
              </a:lnSpc>
              <a:buNone/>
              <a:defRPr sz="2550" b="1">
                <a:solidFill>
                  <a:srgbClr val="67C89C"/>
                </a:solidFill>
                <a:latin typeface="Aptos Display"/>
                <a:ea typeface="Aptos Display"/>
                <a:cs typeface="Aptos Display"/>
              </a:defRPr>
            </a:pPr>
            <a:r>
              <a:rPr sz="2550" b="1">
                <a:solidFill>
                  <a:srgbClr val="67C89C"/>
                </a:solidFill>
                <a:latin typeface="Aptos Display"/>
                <a:ea typeface="Aptos Display"/>
                <a:cs typeface="Aptos Display"/>
              </a:rPr>
              <a:t>They repeatedly [CORE ACTION] and win when [SUCCESS].</a:t>
            </a:r>
          </a:p>
        </p:txBody>
      </p:sp>
      <p:sp>
        <p:nvSpPr>
          <p:cNvPr id="8" name="Rectangle 7">
            <a:extLst>
              <a:ext uri="{FF2B5EF4-FFF2-40B4-BE49-F238E27FC236}">
                <a16:creationId xmlns:a16="http://schemas.microsoft.com/office/drawing/2014/main" id="{C3F12F92-4C37-4E7F-A2CF-9BE363312259}"/>
              </a:ext>
            </a:extLst>
          </p:cNvPr>
          <p:cNvSpPr>
            <a:spLocks noGrp="1"/>
          </p:cNvSpPr>
          <p:nvPr/>
        </p:nvSpPr>
        <p:spPr>
          <a:xfrm>
            <a:off x="9420225" y="2514600"/>
            <a:ext cx="2076450" cy="1104900"/>
          </a:xfrm>
          <a:prstGeom prst="rect">
            <a:avLst/>
          </a:prstGeom>
          <a:noFill/>
          <a:ln w="0">
            <a:noFill/>
          </a:ln>
        </p:spPr>
        <p:txBody>
          <a:bodyPr anchor="ctr">
            <a:normAutofit fontScale="95812"/>
          </a:bodyPr>
          <a:lstStyle/>
          <a:p>
            <a:pPr algn="ctr">
              <a:lnSpc>
                <a:spcPct val="100000"/>
              </a:lnSpc>
              <a:buNone/>
              <a:defRPr sz="2250" b="1">
                <a:solidFill>
                  <a:srgbClr val="FFF8E8"/>
                </a:solidFill>
                <a:latin typeface="Aptos"/>
                <a:ea typeface="Aptos"/>
                <a:cs typeface="Aptos"/>
              </a:defRPr>
            </a:pPr>
            <a:r>
              <a:rPr sz="2250" b="1">
                <a:solidFill>
                  <a:srgbClr val="FFF8E8"/>
                </a:solidFill>
                <a:latin typeface="Aptos"/>
                <a:ea typeface="Aptos"/>
                <a:cs typeface="Aptos"/>
              </a:rPr>
              <a:t>Everyone writes.</a:t>
            </a:r>
          </a:p>
          <a:p>
            <a:pPr algn="ctr">
              <a:lnSpc>
                <a:spcPct val="100000"/>
              </a:lnSpc>
              <a:buNone/>
              <a:defRPr sz="2250" b="1">
                <a:solidFill>
                  <a:srgbClr val="FFF8E8"/>
                </a:solidFill>
                <a:latin typeface="Aptos"/>
                <a:ea typeface="Aptos"/>
                <a:cs typeface="Aptos"/>
              </a:defRPr>
            </a:pPr>
            <a:r>
              <a:rPr sz="2250" b="1">
                <a:solidFill>
                  <a:srgbClr val="FFF8E8"/>
                </a:solidFill>
                <a:latin typeface="Aptos"/>
                <a:ea typeface="Aptos"/>
                <a:cs typeface="Aptos"/>
              </a:rPr>
              <a:t>One person types.</a:t>
            </a:r>
          </a:p>
        </p:txBody>
      </p:sp>
      <p:sp>
        <p:nvSpPr>
          <p:cNvPr id="9" name="Rectangle 8">
            <a:extLst>
              <a:ext uri="{FF2B5EF4-FFF2-40B4-BE49-F238E27FC236}">
                <a16:creationId xmlns:a16="http://schemas.microsoft.com/office/drawing/2014/main" id="{C8AFFE65-0BF2-4C18-8F8B-1672438C4D6E}"/>
              </a:ext>
            </a:extLst>
          </p:cNvPr>
          <p:cNvSpPr>
            <a:spLocks noGrp="1"/>
          </p:cNvSpPr>
          <p:nvPr/>
        </p:nvSpPr>
        <p:spPr>
          <a:xfrm>
            <a:off x="9410700" y="4029075"/>
            <a:ext cx="2076450" cy="361950"/>
          </a:xfrm>
          <a:prstGeom prst="rect">
            <a:avLst/>
          </a:prstGeom>
          <a:noFill/>
          <a:ln w="0">
            <a:noFill/>
          </a:ln>
        </p:spPr>
        <p:txBody>
          <a:bodyPr anchor="ctr">
            <a:normAutofit/>
          </a:bodyPr>
          <a:lstStyle/>
          <a:p>
            <a:pPr algn="ctr">
              <a:lnSpc>
                <a:spcPct val="100000"/>
              </a:lnSpc>
              <a:buNone/>
              <a:defRPr sz="1350" b="0">
                <a:solidFill>
                  <a:srgbClr val="C69A4B"/>
                </a:solidFill>
                <a:latin typeface="Aptos"/>
                <a:ea typeface="Aptos"/>
                <a:cs typeface="Aptos"/>
              </a:defRPr>
            </a:pPr>
            <a:r>
              <a:rPr sz="1350" b="0">
                <a:solidFill>
                  <a:srgbClr val="C69A4B"/>
                </a:solidFill>
                <a:latin typeface="Aptos"/>
                <a:ea typeface="Aptos"/>
                <a:cs typeface="Aptos"/>
              </a:rPr>
              <a:t>No committee prompt.</a:t>
            </a:r>
          </a:p>
        </p:txBody>
      </p:sp>
      <p:sp>
        <p:nvSpPr>
          <p:cNvPr id="10" name="Rectangle 9">
            <a:extLst>
              <a:ext uri="{FF2B5EF4-FFF2-40B4-BE49-F238E27FC236}">
                <a16:creationId xmlns:a16="http://schemas.microsoft.com/office/drawing/2014/main" id="{16FBD7F1-8B36-49F2-84F5-713C799266F6}"/>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A99D89"/>
                </a:solidFill>
                <a:latin typeface="Aptos"/>
                <a:ea typeface="Aptos"/>
                <a:cs typeface="Aptos"/>
              </a:defRPr>
            </a:pPr>
            <a:r>
              <a:rPr sz="975" b="1">
                <a:solidFill>
                  <a:srgbClr val="A99D89"/>
                </a:solidFill>
                <a:latin typeface="Aptos"/>
                <a:ea typeface="Aptos"/>
                <a:cs typeface="Aptos"/>
              </a:rPr>
              <a:t>04</a:t>
            </a:r>
          </a:p>
        </p:txBody>
      </p:sp>
    </p:spTree>
    <p:extLst>
      <p:ext uri="{BB962C8B-B14F-4D97-AF65-F5344CB8AC3E}">
        <p14:creationId xmlns:p14="http://schemas.microsoft.com/office/powerpoint/2010/main" val="182235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ED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B07CB17-57EE-4CE6-BF36-EC70F95875AA}"/>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JOIN THE WORKSHOP</a:t>
            </a:r>
          </a:p>
        </p:txBody>
      </p:sp>
      <p:sp>
        <p:nvSpPr>
          <p:cNvPr id="2" name="Rectangle 1">
            <a:extLst>
              <a:ext uri="{FF2B5EF4-FFF2-40B4-BE49-F238E27FC236}">
                <a16:creationId xmlns:a16="http://schemas.microsoft.com/office/drawing/2014/main" id="{D7317515-B289-4A8C-844B-12FED2F9A930}"/>
              </a:ext>
            </a:extLst>
          </p:cNvPr>
          <p:cNvSpPr>
            <a:spLocks noGrp="1"/>
          </p:cNvSpPr>
          <p:nvPr/>
        </p:nvSpPr>
        <p:spPr>
          <a:xfrm>
            <a:off x="666750" y="781050"/>
            <a:ext cx="5334000" cy="6667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botthecreator.com</a:t>
            </a:r>
          </a:p>
        </p:txBody>
      </p:sp>
      <p:sp>
        <p:nvSpPr>
          <p:cNvPr id="3" name="Rectangle 2">
            <a:extLst>
              <a:ext uri="{FF2B5EF4-FFF2-40B4-BE49-F238E27FC236}">
                <a16:creationId xmlns:a16="http://schemas.microsoft.com/office/drawing/2014/main" id="{9AF658A9-71D9-47E9-BDF3-E915B185EC0D}"/>
              </a:ext>
            </a:extLst>
          </p:cNvPr>
          <p:cNvSpPr>
            <a:spLocks noGrp="1"/>
          </p:cNvSpPr>
          <p:nvPr/>
        </p:nvSpPr>
        <p:spPr>
          <a:xfrm>
            <a:off x="685800" y="1685925"/>
            <a:ext cx="2095500" cy="228600"/>
          </a:xfrm>
          <a:prstGeom prst="rect">
            <a:avLst/>
          </a:prstGeom>
          <a:noFill/>
          <a:ln w="0">
            <a:noFill/>
          </a:ln>
        </p:spPr>
        <p:txBody>
          <a:bodyPr anchor="ctr">
            <a:normAutofit fontScale="80000"/>
          </a:bodyPr>
          <a:lstStyle/>
          <a:p>
            <a:pPr algn="l">
              <a:lnSpc>
                <a:spcPct val="100000"/>
              </a:lnSpc>
              <a:buNone/>
              <a:defRPr sz="1125" b="1">
                <a:solidFill>
                  <a:srgbClr val="706A5D"/>
                </a:solidFill>
                <a:latin typeface="Aptos"/>
                <a:ea typeface="Aptos"/>
                <a:cs typeface="Aptos"/>
              </a:defRPr>
            </a:pPr>
            <a:r>
              <a:rPr sz="1125" b="1">
                <a:solidFill>
                  <a:srgbClr val="706A5D"/>
                </a:solidFill>
                <a:latin typeface="Aptos"/>
                <a:ea typeface="Aptos"/>
                <a:cs typeface="Aptos"/>
              </a:rPr>
              <a:t>ACCESS CODE</a:t>
            </a:r>
          </a:p>
        </p:txBody>
      </p:sp>
      <p:sp>
        <p:nvSpPr>
          <p:cNvPr id="4" name="Rectangle 3">
            <a:extLst>
              <a:ext uri="{FF2B5EF4-FFF2-40B4-BE49-F238E27FC236}">
                <a16:creationId xmlns:a16="http://schemas.microsoft.com/office/drawing/2014/main" id="{13430493-E2BD-43B8-A6B8-F50585D93546}"/>
              </a:ext>
            </a:extLst>
          </p:cNvPr>
          <p:cNvSpPr>
            <a:spLocks noGrp="1"/>
          </p:cNvSpPr>
          <p:nvPr/>
        </p:nvSpPr>
        <p:spPr>
          <a:xfrm>
            <a:off x="666750" y="1952625"/>
            <a:ext cx="4762500" cy="876300"/>
          </a:xfrm>
          <a:prstGeom prst="rect">
            <a:avLst/>
          </a:prstGeom>
          <a:noFill/>
          <a:ln w="0">
            <a:noFill/>
          </a:ln>
        </p:spPr>
        <p:txBody>
          <a:bodyPr anchor="ctr">
            <a:normAutofit/>
          </a:bodyPr>
          <a:lstStyle/>
          <a:p>
            <a:pPr algn="l">
              <a:lnSpc>
                <a:spcPct val="100000"/>
              </a:lnSpc>
              <a:buNone/>
              <a:defRPr sz="5100" b="1">
                <a:solidFill>
                  <a:srgbClr val="BE2F9F"/>
                </a:solidFill>
                <a:latin typeface="Aptos Display"/>
                <a:ea typeface="Aptos Display"/>
                <a:cs typeface="Aptos Display"/>
              </a:defRPr>
            </a:pPr>
            <a:r>
              <a:rPr sz="5100" b="1">
                <a:solidFill>
                  <a:srgbClr val="BE2F9F"/>
                </a:solidFill>
                <a:latin typeface="Aptos Display"/>
                <a:ea typeface="Aptos Display"/>
                <a:cs typeface="Aptos Display"/>
              </a:rPr>
              <a:t>ENT207TC</a:t>
            </a:r>
          </a:p>
        </p:txBody>
      </p:sp>
      <p:sp>
        <p:nvSpPr>
          <p:cNvPr id="5" name="Rectangle 4">
            <a:extLst>
              <a:ext uri="{FF2B5EF4-FFF2-40B4-BE49-F238E27FC236}">
                <a16:creationId xmlns:a16="http://schemas.microsoft.com/office/drawing/2014/main" id="{31BF5655-30B8-412B-975D-391EBB1DFB23}"/>
              </a:ext>
            </a:extLst>
          </p:cNvPr>
          <p:cNvSpPr>
            <a:spLocks noGrp="1"/>
          </p:cNvSpPr>
          <p:nvPr/>
        </p:nvSpPr>
        <p:spPr>
          <a:xfrm>
            <a:off x="685800" y="3067050"/>
            <a:ext cx="4572000" cy="838200"/>
          </a:xfrm>
          <a:prstGeom prst="rect">
            <a:avLst/>
          </a:prstGeom>
          <a:noFill/>
          <a:ln w="0">
            <a:noFill/>
          </a:ln>
        </p:spPr>
        <p:txBody>
          <a:bodyPr anchor="ctr">
            <a:normAutofit/>
          </a:bodyPr>
          <a:lstStyle/>
          <a:p>
            <a:pPr algn="l">
              <a:lnSpc>
                <a:spcPct val="100000"/>
              </a:lnSpc>
              <a:buNone/>
              <a:defRPr sz="1950" b="0">
                <a:solidFill>
                  <a:srgbClr val="706A5D"/>
                </a:solidFill>
                <a:latin typeface="Aptos"/>
                <a:ea typeface="Aptos"/>
                <a:cs typeface="Aptos"/>
              </a:defRPr>
            </a:pPr>
            <a:r>
              <a:rPr sz="1950" b="0">
                <a:solidFill>
                  <a:srgbClr val="706A5D"/>
                </a:solidFill>
                <a:latin typeface="Aptos"/>
                <a:ea typeface="Aptos"/>
                <a:cs typeface="Aptos"/>
              </a:rPr>
              <a:t>Use the group's laptop.</a:t>
            </a:r>
          </a:p>
          <a:p>
            <a:pPr algn="l">
              <a:lnSpc>
                <a:spcPct val="100000"/>
              </a:lnSpc>
              <a:buNone/>
              <a:defRPr sz="1950" b="0">
                <a:solidFill>
                  <a:srgbClr val="706A5D"/>
                </a:solidFill>
                <a:latin typeface="Aptos"/>
                <a:ea typeface="Aptos"/>
                <a:cs typeface="Aptos"/>
              </a:defRPr>
            </a:pPr>
            <a:r>
              <a:rPr sz="1950" b="0">
                <a:solidFill>
                  <a:srgbClr val="706A5D"/>
                </a:solidFill>
                <a:latin typeface="Aptos"/>
                <a:ea typeface="Aptos"/>
                <a:cs typeface="Aptos"/>
              </a:rPr>
              <a:t>Phones are optional for testing and voting.</a:t>
            </a:r>
          </a:p>
        </p:txBody>
      </p:sp>
      <p:pic>
        <p:nvPicPr>
          <p:cNvPr id="16" name="Picture 15"/>
          <p:cNvPicPr>
            <a:picLocks noChangeAspect="1"/>
          </p:cNvPicPr>
          <p:nvPr/>
        </p:nvPicPr>
        <p:blipFill>
          <a:blip r:embed="rId3"/>
          <a:stretch/>
        </p:blipFill>
        <p:spPr>
          <a:xfrm>
            <a:off x="3619500" y="4210050"/>
            <a:ext cx="1466850" cy="1466850"/>
          </a:xfrm>
          <a:prstGeom prst="rect">
            <a:avLst/>
          </a:prstGeom>
        </p:spPr>
      </p:pic>
      <p:sp>
        <p:nvSpPr>
          <p:cNvPr id="7" name="Rectangle 6">
            <a:extLst>
              <a:ext uri="{FF2B5EF4-FFF2-40B4-BE49-F238E27FC236}">
                <a16:creationId xmlns:a16="http://schemas.microsoft.com/office/drawing/2014/main" id="{8B024672-D8D9-4BA8-B1A2-CE0638CB4527}"/>
              </a:ext>
            </a:extLst>
          </p:cNvPr>
          <p:cNvSpPr>
            <a:spLocks noGrp="1"/>
          </p:cNvSpPr>
          <p:nvPr/>
        </p:nvSpPr>
        <p:spPr>
          <a:xfrm>
            <a:off x="3810000" y="5676900"/>
            <a:ext cx="1095375" cy="228600"/>
          </a:xfrm>
          <a:prstGeom prst="rect">
            <a:avLst/>
          </a:prstGeom>
          <a:noFill/>
          <a:ln w="0">
            <a:noFill/>
          </a:ln>
        </p:spPr>
        <p:txBody>
          <a:bodyPr anchor="ctr">
            <a:normAutofit fontScale="85714"/>
          </a:bodyPr>
          <a:lstStyle/>
          <a:p>
            <a:pPr algn="ctr">
              <a:lnSpc>
                <a:spcPct val="100000"/>
              </a:lnSpc>
              <a:buNone/>
              <a:defRPr sz="1050" b="0">
                <a:solidFill>
                  <a:srgbClr val="706A5D"/>
                </a:solidFill>
                <a:latin typeface="Aptos"/>
                <a:ea typeface="Aptos"/>
                <a:cs typeface="Aptos"/>
              </a:defRPr>
            </a:pPr>
            <a:r>
              <a:rPr sz="1050" b="0">
                <a:solidFill>
                  <a:srgbClr val="706A5D"/>
                </a:solidFill>
                <a:latin typeface="Aptos"/>
                <a:ea typeface="Aptos"/>
                <a:cs typeface="Aptos"/>
              </a:rPr>
              <a:t>Optional</a:t>
            </a:r>
          </a:p>
        </p:txBody>
      </p:sp>
      <p:pic>
        <p:nvPicPr>
          <p:cNvPr id="18" name="Picture 17"/>
          <p:cNvPicPr>
            <a:picLocks noChangeAspect="1"/>
          </p:cNvPicPr>
          <p:nvPr/>
        </p:nvPicPr>
        <p:blipFill>
          <a:blip r:embed="rId4"/>
          <a:srcRect l="22628" r="22628"/>
          <a:stretch>
            <a:fillRect/>
          </a:stretch>
        </p:blipFill>
        <p:spPr>
          <a:xfrm>
            <a:off x="6191250" y="666750"/>
            <a:ext cx="5191125" cy="5334000"/>
          </a:xfrm>
          <a:prstGeom prst="roundRect">
            <a:avLst>
              <a:gd name="adj" fmla="val 1468"/>
            </a:avLst>
          </a:prstGeom>
        </p:spPr>
      </p:pic>
      <p:sp>
        <p:nvSpPr>
          <p:cNvPr id="9" name="Rectangle: Rounded Corners 8">
            <a:extLst>
              <a:ext uri="{FF2B5EF4-FFF2-40B4-BE49-F238E27FC236}">
                <a16:creationId xmlns:a16="http://schemas.microsoft.com/office/drawing/2014/main" id="{179A22B7-8A9E-4A6E-8D51-934363D42E33}"/>
              </a:ext>
            </a:extLst>
          </p:cNvPr>
          <p:cNvSpPr>
            <a:spLocks noGrp="1"/>
          </p:cNvSpPr>
          <p:nvPr/>
        </p:nvSpPr>
        <p:spPr>
          <a:xfrm>
            <a:off x="6191250" y="666750"/>
            <a:ext cx="5191125" cy="5334000"/>
          </a:xfrm>
          <a:prstGeom prst="roundRect">
            <a:avLst>
              <a:gd name="adj" fmla="val 1468"/>
            </a:avLst>
          </a:prstGeom>
          <a:solidFill>
            <a:srgbClr val="FFFFFF">
              <a:alpha val="0"/>
            </a:srgbClr>
          </a:solidFill>
          <a:ln w="19050">
            <a:solidFill>
              <a:srgbClr val="D8CDB9"/>
            </a:solidFill>
            <a:prstDash val="solid"/>
          </a:ln>
        </p:spPr>
        <p:txBody>
          <a:bodyPr/>
          <a:lstStyle/>
          <a:p>
            <a:endParaRPr lang="en-DE"/>
          </a:p>
        </p:txBody>
      </p:sp>
      <p:sp>
        <p:nvSpPr>
          <p:cNvPr id="10" name="Rectangle 9">
            <a:extLst>
              <a:ext uri="{FF2B5EF4-FFF2-40B4-BE49-F238E27FC236}">
                <a16:creationId xmlns:a16="http://schemas.microsoft.com/office/drawing/2014/main" id="{3D8AF119-D360-4115-8BA8-1C78F0EFE1EF}"/>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05</a:t>
            </a:r>
          </a:p>
        </p:txBody>
      </p:sp>
    </p:spTree>
    <p:extLst>
      <p:ext uri="{BB962C8B-B14F-4D97-AF65-F5344CB8AC3E}">
        <p14:creationId xmlns:p14="http://schemas.microsoft.com/office/powerpoint/2010/main" val="1139585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40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3EC67D-D01C-4E7A-AC30-0C55D9D046E5}"/>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C69A4B"/>
                </a:solidFill>
                <a:latin typeface="Aptos"/>
                <a:ea typeface="Aptos"/>
                <a:cs typeface="Aptos"/>
              </a:defRPr>
            </a:pPr>
            <a:r>
              <a:rPr sz="1125" b="1">
                <a:solidFill>
                  <a:srgbClr val="C69A4B"/>
                </a:solidFill>
                <a:latin typeface="Aptos"/>
                <a:ea typeface="Aptos"/>
                <a:cs typeface="Aptos"/>
              </a:rPr>
              <a:t>BUILD · 20 MINUTES</a:t>
            </a:r>
          </a:p>
        </p:txBody>
      </p:sp>
      <p:sp>
        <p:nvSpPr>
          <p:cNvPr id="2" name="Rectangle 1">
            <a:extLst>
              <a:ext uri="{FF2B5EF4-FFF2-40B4-BE49-F238E27FC236}">
                <a16:creationId xmlns:a16="http://schemas.microsoft.com/office/drawing/2014/main" id="{4FB1C055-3B85-4AE6-8552-A75FF7D9C5C2}"/>
              </a:ext>
            </a:extLst>
          </p:cNvPr>
          <p:cNvSpPr>
            <a:spLocks noGrp="1"/>
          </p:cNvSpPr>
          <p:nvPr/>
        </p:nvSpPr>
        <p:spPr>
          <a:xfrm>
            <a:off x="628650" y="838200"/>
            <a:ext cx="7239000" cy="876300"/>
          </a:xfrm>
          <a:prstGeom prst="rect">
            <a:avLst/>
          </a:prstGeom>
          <a:noFill/>
          <a:ln w="0">
            <a:noFill/>
          </a:ln>
        </p:spPr>
        <p:txBody>
          <a:bodyPr anchor="ctr">
            <a:normAutofit/>
          </a:bodyPr>
          <a:lstStyle/>
          <a:p>
            <a:pPr algn="l">
              <a:lnSpc>
                <a:spcPct val="100000"/>
              </a:lnSpc>
              <a:buNone/>
              <a:defRPr sz="4350" b="1">
                <a:solidFill>
                  <a:srgbClr val="FFF8E8"/>
                </a:solidFill>
                <a:latin typeface="Aptos Display"/>
                <a:ea typeface="Aptos Display"/>
                <a:cs typeface="Aptos Display"/>
              </a:defRPr>
            </a:pPr>
            <a:r>
              <a:rPr sz="4350" b="1">
                <a:solidFill>
                  <a:srgbClr val="FFF8E8"/>
                </a:solidFill>
                <a:latin typeface="Aptos Display"/>
                <a:ea typeface="Aptos Display"/>
                <a:cs typeface="Aptos Display"/>
              </a:rPr>
              <a:t>Smallest playable thing.</a:t>
            </a:r>
          </a:p>
        </p:txBody>
      </p:sp>
      <p:sp>
        <p:nvSpPr>
          <p:cNvPr id="3" name="Rectangle 2">
            <a:extLst>
              <a:ext uri="{FF2B5EF4-FFF2-40B4-BE49-F238E27FC236}">
                <a16:creationId xmlns:a16="http://schemas.microsoft.com/office/drawing/2014/main" id="{BA1FFC0C-BEBA-4790-B4FD-FE68B5E676BF}"/>
              </a:ext>
            </a:extLst>
          </p:cNvPr>
          <p:cNvSpPr>
            <a:spLocks noGrp="1"/>
          </p:cNvSpPr>
          <p:nvPr/>
        </p:nvSpPr>
        <p:spPr>
          <a:xfrm>
            <a:off x="8039100" y="704850"/>
            <a:ext cx="3429000" cy="1104900"/>
          </a:xfrm>
          <a:prstGeom prst="rect">
            <a:avLst/>
          </a:prstGeom>
          <a:noFill/>
          <a:ln w="0">
            <a:noFill/>
          </a:ln>
        </p:spPr>
        <p:txBody>
          <a:bodyPr anchor="ctr">
            <a:normAutofit/>
          </a:bodyPr>
          <a:lstStyle/>
          <a:p>
            <a:pPr algn="r">
              <a:lnSpc>
                <a:spcPct val="100000"/>
              </a:lnSpc>
              <a:buNone/>
              <a:defRPr sz="6600" b="1">
                <a:solidFill>
                  <a:srgbClr val="BE2F9F"/>
                </a:solidFill>
                <a:latin typeface="Aptos Display"/>
                <a:ea typeface="Aptos Display"/>
                <a:cs typeface="Aptos Display"/>
              </a:defRPr>
            </a:pPr>
            <a:r>
              <a:rPr sz="6600" b="1">
                <a:solidFill>
                  <a:srgbClr val="BE2F9F"/>
                </a:solidFill>
                <a:latin typeface="Aptos Display"/>
                <a:ea typeface="Aptos Display"/>
                <a:cs typeface="Aptos Display"/>
              </a:rPr>
              <a:t>20:00</a:t>
            </a:r>
          </a:p>
        </p:txBody>
      </p:sp>
      <p:sp>
        <p:nvSpPr>
          <p:cNvPr id="4" name="Rectangle: Rounded Corners 3">
            <a:extLst>
              <a:ext uri="{FF2B5EF4-FFF2-40B4-BE49-F238E27FC236}">
                <a16:creationId xmlns:a16="http://schemas.microsoft.com/office/drawing/2014/main" id="{70D94DC5-C464-4E00-963F-EDB9710E5753}"/>
              </a:ext>
            </a:extLst>
          </p:cNvPr>
          <p:cNvSpPr>
            <a:spLocks noGrp="1"/>
          </p:cNvSpPr>
          <p:nvPr/>
        </p:nvSpPr>
        <p:spPr>
          <a:xfrm>
            <a:off x="666750" y="2457450"/>
            <a:ext cx="571500" cy="571500"/>
          </a:xfrm>
          <a:prstGeom prst="roundRect">
            <a:avLst>
              <a:gd name="adj" fmla="val 13333"/>
            </a:avLst>
          </a:prstGeom>
          <a:solidFill>
            <a:srgbClr val="C69A4B"/>
          </a:solidFill>
          <a:ln w="0">
            <a:solidFill>
              <a:srgbClr val="C69A4B"/>
            </a:solidFill>
            <a:prstDash val="solid"/>
          </a:ln>
        </p:spPr>
        <p:txBody>
          <a:bodyPr/>
          <a:lstStyle/>
          <a:p>
            <a:endParaRPr lang="en-DE"/>
          </a:p>
        </p:txBody>
      </p:sp>
      <p:sp>
        <p:nvSpPr>
          <p:cNvPr id="5" name="Rectangle 4">
            <a:extLst>
              <a:ext uri="{FF2B5EF4-FFF2-40B4-BE49-F238E27FC236}">
                <a16:creationId xmlns:a16="http://schemas.microsoft.com/office/drawing/2014/main" id="{C7A772E1-5963-439A-A4EB-FBBE618C8872}"/>
              </a:ext>
            </a:extLst>
          </p:cNvPr>
          <p:cNvSpPr>
            <a:spLocks noGrp="1"/>
          </p:cNvSpPr>
          <p:nvPr/>
        </p:nvSpPr>
        <p:spPr>
          <a:xfrm>
            <a:off x="666750" y="2457450"/>
            <a:ext cx="571500" cy="571500"/>
          </a:xfrm>
          <a:prstGeom prst="rect">
            <a:avLst/>
          </a:prstGeom>
          <a:noFill/>
          <a:ln w="0">
            <a:noFill/>
          </a:ln>
        </p:spPr>
        <p:txBody>
          <a:bodyPr anchor="ctr">
            <a:normAutofit/>
          </a:bodyPr>
          <a:lstStyle/>
          <a:p>
            <a:pPr algn="ctr">
              <a:lnSpc>
                <a:spcPct val="100000"/>
              </a:lnSpc>
              <a:buNone/>
              <a:defRPr sz="2100" b="1">
                <a:solidFill>
                  <a:srgbClr val="17140F"/>
                </a:solidFill>
                <a:latin typeface="Aptos"/>
                <a:ea typeface="Aptos"/>
                <a:cs typeface="Aptos"/>
              </a:defRPr>
            </a:pPr>
            <a:r>
              <a:rPr sz="2100" b="1">
                <a:solidFill>
                  <a:srgbClr val="17140F"/>
                </a:solidFill>
                <a:latin typeface="Aptos"/>
                <a:ea typeface="Aptos"/>
                <a:cs typeface="Aptos"/>
              </a:rPr>
              <a:t>1</a:t>
            </a:r>
          </a:p>
        </p:txBody>
      </p:sp>
      <p:sp>
        <p:nvSpPr>
          <p:cNvPr id="6" name="Rectangle 5">
            <a:extLst>
              <a:ext uri="{FF2B5EF4-FFF2-40B4-BE49-F238E27FC236}">
                <a16:creationId xmlns:a16="http://schemas.microsoft.com/office/drawing/2014/main" id="{08BC2ABD-014E-4BD5-8F34-6AFE7CD81EF2}"/>
              </a:ext>
            </a:extLst>
          </p:cNvPr>
          <p:cNvSpPr>
            <a:spLocks noGrp="1"/>
          </p:cNvSpPr>
          <p:nvPr/>
        </p:nvSpPr>
        <p:spPr>
          <a:xfrm>
            <a:off x="1543050" y="2419350"/>
            <a:ext cx="6572250" cy="685800"/>
          </a:xfrm>
          <a:prstGeom prst="rect">
            <a:avLst/>
          </a:prstGeom>
          <a:noFill/>
          <a:ln w="0">
            <a:noFill/>
          </a:ln>
        </p:spPr>
        <p:txBody>
          <a:bodyPr anchor="ctr">
            <a:normAutofit/>
          </a:bodyPr>
          <a:lstStyle/>
          <a:p>
            <a:pPr algn="l">
              <a:lnSpc>
                <a:spcPct val="100000"/>
              </a:lnSpc>
              <a:buNone/>
              <a:defRPr sz="2400" b="1">
                <a:solidFill>
                  <a:srgbClr val="FFF8E8"/>
                </a:solidFill>
                <a:latin typeface="Aptos"/>
                <a:ea typeface="Aptos"/>
                <a:cs typeface="Aptos"/>
              </a:defRPr>
            </a:pPr>
            <a:r>
              <a:rPr sz="2400" b="1">
                <a:solidFill>
                  <a:srgbClr val="FFF8E8"/>
                </a:solidFill>
                <a:latin typeface="Aptos"/>
                <a:ea typeface="Aptos"/>
                <a:cs typeface="Aptos"/>
              </a:rPr>
              <a:t>Make the core action work.</a:t>
            </a:r>
          </a:p>
        </p:txBody>
      </p:sp>
      <p:sp>
        <p:nvSpPr>
          <p:cNvPr id="7" name="Rectangle: Rounded Corners 6">
            <a:extLst>
              <a:ext uri="{FF2B5EF4-FFF2-40B4-BE49-F238E27FC236}">
                <a16:creationId xmlns:a16="http://schemas.microsoft.com/office/drawing/2014/main" id="{D8033DE3-A35B-4759-BEBE-DBA60C42F841}"/>
              </a:ext>
            </a:extLst>
          </p:cNvPr>
          <p:cNvSpPr>
            <a:spLocks noGrp="1"/>
          </p:cNvSpPr>
          <p:nvPr/>
        </p:nvSpPr>
        <p:spPr>
          <a:xfrm>
            <a:off x="666750" y="3486150"/>
            <a:ext cx="571500" cy="571500"/>
          </a:xfrm>
          <a:prstGeom prst="roundRect">
            <a:avLst>
              <a:gd name="adj" fmla="val 13333"/>
            </a:avLst>
          </a:prstGeom>
          <a:solidFill>
            <a:srgbClr val="C69A4B"/>
          </a:solidFill>
          <a:ln w="0">
            <a:solidFill>
              <a:srgbClr val="C69A4B"/>
            </a:solidFill>
            <a:prstDash val="solid"/>
          </a:ln>
        </p:spPr>
        <p:txBody>
          <a:bodyPr/>
          <a:lstStyle/>
          <a:p>
            <a:endParaRPr lang="en-DE"/>
          </a:p>
        </p:txBody>
      </p:sp>
      <p:sp>
        <p:nvSpPr>
          <p:cNvPr id="8" name="Rectangle 7">
            <a:extLst>
              <a:ext uri="{FF2B5EF4-FFF2-40B4-BE49-F238E27FC236}">
                <a16:creationId xmlns:a16="http://schemas.microsoft.com/office/drawing/2014/main" id="{2AF4D91C-6307-4A3F-AC9E-F02AC012C7C1}"/>
              </a:ext>
            </a:extLst>
          </p:cNvPr>
          <p:cNvSpPr>
            <a:spLocks noGrp="1"/>
          </p:cNvSpPr>
          <p:nvPr/>
        </p:nvSpPr>
        <p:spPr>
          <a:xfrm>
            <a:off x="666750" y="3486150"/>
            <a:ext cx="571500" cy="571500"/>
          </a:xfrm>
          <a:prstGeom prst="rect">
            <a:avLst/>
          </a:prstGeom>
          <a:noFill/>
          <a:ln w="0">
            <a:noFill/>
          </a:ln>
        </p:spPr>
        <p:txBody>
          <a:bodyPr anchor="ctr">
            <a:normAutofit/>
          </a:bodyPr>
          <a:lstStyle/>
          <a:p>
            <a:pPr algn="ctr">
              <a:lnSpc>
                <a:spcPct val="100000"/>
              </a:lnSpc>
              <a:buNone/>
              <a:defRPr sz="2100" b="1">
                <a:solidFill>
                  <a:srgbClr val="17140F"/>
                </a:solidFill>
                <a:latin typeface="Aptos"/>
                <a:ea typeface="Aptos"/>
                <a:cs typeface="Aptos"/>
              </a:defRPr>
            </a:pPr>
            <a:r>
              <a:rPr sz="2100" b="1">
                <a:solidFill>
                  <a:srgbClr val="17140F"/>
                </a:solidFill>
                <a:latin typeface="Aptos"/>
                <a:ea typeface="Aptos"/>
                <a:cs typeface="Aptos"/>
              </a:rPr>
              <a:t>2</a:t>
            </a:r>
          </a:p>
        </p:txBody>
      </p:sp>
      <p:sp>
        <p:nvSpPr>
          <p:cNvPr id="9" name="Rectangle 8">
            <a:extLst>
              <a:ext uri="{FF2B5EF4-FFF2-40B4-BE49-F238E27FC236}">
                <a16:creationId xmlns:a16="http://schemas.microsoft.com/office/drawing/2014/main" id="{450CCFFE-3E56-447D-9A06-63B09BEE5EDB}"/>
              </a:ext>
            </a:extLst>
          </p:cNvPr>
          <p:cNvSpPr>
            <a:spLocks noGrp="1"/>
          </p:cNvSpPr>
          <p:nvPr/>
        </p:nvSpPr>
        <p:spPr>
          <a:xfrm>
            <a:off x="1543050" y="3448050"/>
            <a:ext cx="6572250" cy="685800"/>
          </a:xfrm>
          <a:prstGeom prst="rect">
            <a:avLst/>
          </a:prstGeom>
          <a:noFill/>
          <a:ln w="0">
            <a:noFill/>
          </a:ln>
        </p:spPr>
        <p:txBody>
          <a:bodyPr anchor="ctr">
            <a:normAutofit/>
          </a:bodyPr>
          <a:lstStyle/>
          <a:p>
            <a:pPr algn="l">
              <a:lnSpc>
                <a:spcPct val="100000"/>
              </a:lnSpc>
              <a:buNone/>
              <a:defRPr sz="2400" b="1">
                <a:solidFill>
                  <a:srgbClr val="FFF8E8"/>
                </a:solidFill>
                <a:latin typeface="Aptos"/>
                <a:ea typeface="Aptos"/>
                <a:cs typeface="Aptos"/>
              </a:defRPr>
            </a:pPr>
            <a:r>
              <a:rPr sz="2400" b="1">
                <a:solidFill>
                  <a:srgbClr val="FFF8E8"/>
                </a:solidFill>
                <a:latin typeface="Aptos"/>
                <a:ea typeface="Aptos"/>
                <a:cs typeface="Aptos"/>
              </a:rPr>
              <a:t>Play early. Prompt from what breaks.</a:t>
            </a:r>
          </a:p>
        </p:txBody>
      </p:sp>
      <p:sp>
        <p:nvSpPr>
          <p:cNvPr id="10" name="Rectangle: Rounded Corners 9">
            <a:extLst>
              <a:ext uri="{FF2B5EF4-FFF2-40B4-BE49-F238E27FC236}">
                <a16:creationId xmlns:a16="http://schemas.microsoft.com/office/drawing/2014/main" id="{BEDC88C8-F105-4946-A2FD-F082C5E4E125}"/>
              </a:ext>
            </a:extLst>
          </p:cNvPr>
          <p:cNvSpPr>
            <a:spLocks noGrp="1"/>
          </p:cNvSpPr>
          <p:nvPr/>
        </p:nvSpPr>
        <p:spPr>
          <a:xfrm>
            <a:off x="666750" y="4514850"/>
            <a:ext cx="571500" cy="571500"/>
          </a:xfrm>
          <a:prstGeom prst="roundRect">
            <a:avLst>
              <a:gd name="adj" fmla="val 13333"/>
            </a:avLst>
          </a:prstGeom>
          <a:solidFill>
            <a:srgbClr val="BE2F9F"/>
          </a:solidFill>
          <a:ln w="0">
            <a:solidFill>
              <a:srgbClr val="BE2F9F"/>
            </a:solidFill>
            <a:prstDash val="solid"/>
          </a:ln>
        </p:spPr>
        <p:txBody>
          <a:bodyPr/>
          <a:lstStyle/>
          <a:p>
            <a:endParaRPr lang="en-DE"/>
          </a:p>
        </p:txBody>
      </p:sp>
      <p:sp>
        <p:nvSpPr>
          <p:cNvPr id="11" name="Rectangle 10">
            <a:extLst>
              <a:ext uri="{FF2B5EF4-FFF2-40B4-BE49-F238E27FC236}">
                <a16:creationId xmlns:a16="http://schemas.microsoft.com/office/drawing/2014/main" id="{B99DC220-9953-4063-860A-31C89F66A955}"/>
              </a:ext>
            </a:extLst>
          </p:cNvPr>
          <p:cNvSpPr>
            <a:spLocks noGrp="1"/>
          </p:cNvSpPr>
          <p:nvPr/>
        </p:nvSpPr>
        <p:spPr>
          <a:xfrm>
            <a:off x="666750" y="4514850"/>
            <a:ext cx="571500" cy="571500"/>
          </a:xfrm>
          <a:prstGeom prst="rect">
            <a:avLst/>
          </a:prstGeom>
          <a:noFill/>
          <a:ln w="0">
            <a:noFill/>
          </a:ln>
        </p:spPr>
        <p:txBody>
          <a:bodyPr anchor="ctr">
            <a:normAutofit/>
          </a:bodyPr>
          <a:lstStyle/>
          <a:p>
            <a:pPr algn="ctr">
              <a:lnSpc>
                <a:spcPct val="100000"/>
              </a:lnSpc>
              <a:buNone/>
              <a:defRPr sz="2100" b="1">
                <a:solidFill>
                  <a:srgbClr val="17140F"/>
                </a:solidFill>
                <a:latin typeface="Aptos"/>
                <a:ea typeface="Aptos"/>
                <a:cs typeface="Aptos"/>
              </a:defRPr>
            </a:pPr>
            <a:r>
              <a:rPr sz="2100" b="1">
                <a:solidFill>
                  <a:srgbClr val="17140F"/>
                </a:solidFill>
                <a:latin typeface="Aptos"/>
                <a:ea typeface="Aptos"/>
                <a:cs typeface="Aptos"/>
              </a:rPr>
              <a:t>3</a:t>
            </a:r>
          </a:p>
        </p:txBody>
      </p:sp>
      <p:sp>
        <p:nvSpPr>
          <p:cNvPr id="12" name="Rectangle 11">
            <a:extLst>
              <a:ext uri="{FF2B5EF4-FFF2-40B4-BE49-F238E27FC236}">
                <a16:creationId xmlns:a16="http://schemas.microsoft.com/office/drawing/2014/main" id="{34BDB0D4-81CA-491E-B7D3-B0FAA72F17F5}"/>
              </a:ext>
            </a:extLst>
          </p:cNvPr>
          <p:cNvSpPr>
            <a:spLocks noGrp="1"/>
          </p:cNvSpPr>
          <p:nvPr/>
        </p:nvSpPr>
        <p:spPr>
          <a:xfrm>
            <a:off x="1543050" y="4476750"/>
            <a:ext cx="6572250" cy="685800"/>
          </a:xfrm>
          <a:prstGeom prst="rect">
            <a:avLst/>
          </a:prstGeom>
          <a:noFill/>
          <a:ln w="0">
            <a:noFill/>
          </a:ln>
        </p:spPr>
        <p:txBody>
          <a:bodyPr anchor="ctr">
            <a:normAutofit/>
          </a:bodyPr>
          <a:lstStyle/>
          <a:p>
            <a:pPr algn="l">
              <a:lnSpc>
                <a:spcPct val="100000"/>
              </a:lnSpc>
              <a:buNone/>
              <a:defRPr sz="2400" b="1">
                <a:solidFill>
                  <a:srgbClr val="FFF8E8"/>
                </a:solidFill>
                <a:latin typeface="Aptos"/>
                <a:ea typeface="Aptos"/>
                <a:cs typeface="Aptos"/>
              </a:defRPr>
            </a:pPr>
            <a:r>
              <a:rPr sz="2400" b="1">
                <a:solidFill>
                  <a:srgbClr val="FFF8E8"/>
                </a:solidFill>
                <a:latin typeface="Aptos"/>
                <a:ea typeface="Aptos"/>
                <a:cs typeface="Aptos"/>
              </a:rPr>
              <a:t>Stop adding features at 05:00.</a:t>
            </a:r>
          </a:p>
        </p:txBody>
      </p:sp>
      <p:pic>
        <p:nvPicPr>
          <p:cNvPr id="29" name="Picture 28"/>
          <p:cNvPicPr>
            <a:picLocks noChangeAspect="1"/>
          </p:cNvPicPr>
          <p:nvPr/>
        </p:nvPicPr>
        <p:blipFill>
          <a:blip r:embed="rId3"/>
          <a:stretch/>
        </p:blipFill>
        <p:spPr>
          <a:xfrm>
            <a:off x="8743950" y="2695575"/>
            <a:ext cx="2619375" cy="2619375"/>
          </a:xfrm>
          <a:prstGeom prst="rect">
            <a:avLst/>
          </a:prstGeom>
        </p:spPr>
      </p:pic>
      <p:sp>
        <p:nvSpPr>
          <p:cNvPr id="14" name="Rectangle: Rounded Corners 13">
            <a:extLst>
              <a:ext uri="{FF2B5EF4-FFF2-40B4-BE49-F238E27FC236}">
                <a16:creationId xmlns:a16="http://schemas.microsoft.com/office/drawing/2014/main" id="{7FDD0B53-D1E9-444C-9012-FA2879EB3923}"/>
              </a:ext>
            </a:extLst>
          </p:cNvPr>
          <p:cNvSpPr>
            <a:spLocks noGrp="1"/>
          </p:cNvSpPr>
          <p:nvPr/>
        </p:nvSpPr>
        <p:spPr>
          <a:xfrm>
            <a:off x="8810625" y="5429250"/>
            <a:ext cx="2428875" cy="428625"/>
          </a:xfrm>
          <a:prstGeom prst="roundRect">
            <a:avLst>
              <a:gd name="adj" fmla="val 17778"/>
            </a:avLst>
          </a:prstGeom>
          <a:solidFill>
            <a:srgbClr val="26845A"/>
          </a:solidFill>
          <a:ln w="0">
            <a:solidFill>
              <a:srgbClr val="26845A"/>
            </a:solidFill>
            <a:prstDash val="solid"/>
          </a:ln>
        </p:spPr>
        <p:txBody>
          <a:bodyPr/>
          <a:lstStyle/>
          <a:p>
            <a:endParaRPr lang="en-DE"/>
          </a:p>
        </p:txBody>
      </p:sp>
      <p:sp>
        <p:nvSpPr>
          <p:cNvPr id="15" name="Rectangle 14">
            <a:extLst>
              <a:ext uri="{FF2B5EF4-FFF2-40B4-BE49-F238E27FC236}">
                <a16:creationId xmlns:a16="http://schemas.microsoft.com/office/drawing/2014/main" id="{68456A70-A539-4A5B-B281-A46A8975D1EF}"/>
              </a:ext>
            </a:extLst>
          </p:cNvPr>
          <p:cNvSpPr>
            <a:spLocks noGrp="1"/>
          </p:cNvSpPr>
          <p:nvPr/>
        </p:nvSpPr>
        <p:spPr>
          <a:xfrm>
            <a:off x="8943975" y="5486400"/>
            <a:ext cx="2152650" cy="304800"/>
          </a:xfrm>
          <a:prstGeom prst="rect">
            <a:avLst/>
          </a:prstGeom>
          <a:noFill/>
          <a:ln w="0">
            <a:noFill/>
          </a:ln>
        </p:spPr>
        <p:txBody>
          <a:bodyPr anchor="ctr">
            <a:normAutofit/>
          </a:bodyPr>
          <a:lstStyle/>
          <a:p>
            <a:pPr algn="ctr">
              <a:lnSpc>
                <a:spcPct val="100000"/>
              </a:lnSpc>
              <a:buNone/>
              <a:defRPr sz="1125" b="1">
                <a:solidFill>
                  <a:srgbClr val="FFFFFF"/>
                </a:solidFill>
                <a:latin typeface="Aptos"/>
                <a:ea typeface="Aptos"/>
                <a:cs typeface="Aptos"/>
              </a:defRPr>
            </a:pPr>
            <a:r>
              <a:rPr sz="1125" b="1">
                <a:solidFill>
                  <a:srgbClr val="FFFFFF"/>
                </a:solidFill>
                <a:latin typeface="Aptos"/>
                <a:ea typeface="Aptos"/>
                <a:cs typeface="Aptos"/>
              </a:rPr>
              <a:t>PLAYABLE &gt; PRETTY</a:t>
            </a:r>
          </a:p>
        </p:txBody>
      </p:sp>
      <p:sp>
        <p:nvSpPr>
          <p:cNvPr id="16" name="Rectangle 15">
            <a:extLst>
              <a:ext uri="{FF2B5EF4-FFF2-40B4-BE49-F238E27FC236}">
                <a16:creationId xmlns:a16="http://schemas.microsoft.com/office/drawing/2014/main" id="{5B2796C7-CB67-44C6-9B33-B61B3B91C86A}"/>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A99D89"/>
                </a:solidFill>
                <a:latin typeface="Aptos"/>
                <a:ea typeface="Aptos"/>
                <a:cs typeface="Aptos"/>
              </a:defRPr>
            </a:pPr>
            <a:r>
              <a:rPr sz="975" b="1">
                <a:solidFill>
                  <a:srgbClr val="A99D89"/>
                </a:solidFill>
                <a:latin typeface="Aptos"/>
                <a:ea typeface="Aptos"/>
                <a:cs typeface="Aptos"/>
              </a:rPr>
              <a:t>06</a:t>
            </a:r>
          </a:p>
        </p:txBody>
      </p:sp>
    </p:spTree>
    <p:extLst>
      <p:ext uri="{BB962C8B-B14F-4D97-AF65-F5344CB8AC3E}">
        <p14:creationId xmlns:p14="http://schemas.microsoft.com/office/powerpoint/2010/main" val="1697301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BF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9D9C5D7-8424-4186-ACF0-5439B04EC248}"/>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PEER TEST · 8 MINUTES</a:t>
            </a:r>
          </a:p>
        </p:txBody>
      </p:sp>
      <p:sp>
        <p:nvSpPr>
          <p:cNvPr id="2" name="Rectangle 1">
            <a:extLst>
              <a:ext uri="{FF2B5EF4-FFF2-40B4-BE49-F238E27FC236}">
                <a16:creationId xmlns:a16="http://schemas.microsoft.com/office/drawing/2014/main" id="{20E3290C-558B-4920-8E0A-D50BD5C6FAB4}"/>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Do not explain the game.</a:t>
            </a:r>
          </a:p>
        </p:txBody>
      </p:sp>
      <p:sp>
        <p:nvSpPr>
          <p:cNvPr id="3" name="Rectangle 2">
            <a:extLst>
              <a:ext uri="{FF2B5EF4-FFF2-40B4-BE49-F238E27FC236}">
                <a16:creationId xmlns:a16="http://schemas.microsoft.com/office/drawing/2014/main" id="{21F8657C-653C-488B-AFB6-BB59B813AED4}"/>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Watch what another person actually does.</a:t>
            </a:r>
          </a:p>
        </p:txBody>
      </p:sp>
      <p:sp>
        <p:nvSpPr>
          <p:cNvPr id="4" name="Rectangle: Rounded Corners 3">
            <a:extLst>
              <a:ext uri="{FF2B5EF4-FFF2-40B4-BE49-F238E27FC236}">
                <a16:creationId xmlns:a16="http://schemas.microsoft.com/office/drawing/2014/main" id="{31165029-3252-47FA-84E9-61A5B1A1B414}"/>
              </a:ext>
            </a:extLst>
          </p:cNvPr>
          <p:cNvSpPr>
            <a:spLocks noGrp="1"/>
          </p:cNvSpPr>
          <p:nvPr/>
        </p:nvSpPr>
        <p:spPr>
          <a:xfrm>
            <a:off x="666750" y="2476500"/>
            <a:ext cx="3276600" cy="2381250"/>
          </a:xfrm>
          <a:prstGeom prst="roundRect">
            <a:avLst>
              <a:gd name="adj" fmla="val 3200"/>
            </a:avLst>
          </a:prstGeom>
          <a:solidFill>
            <a:srgbClr val="FFFFFF"/>
          </a:solidFill>
          <a:ln w="9525">
            <a:solidFill>
              <a:srgbClr val="D8CDB9"/>
            </a:solidFill>
            <a:prstDash val="solid"/>
          </a:ln>
        </p:spPr>
        <p:txBody>
          <a:bodyPr/>
          <a:lstStyle/>
          <a:p>
            <a:endParaRPr lang="en-DE"/>
          </a:p>
        </p:txBody>
      </p:sp>
      <p:sp>
        <p:nvSpPr>
          <p:cNvPr id="5" name="Rectangle 4">
            <a:extLst>
              <a:ext uri="{FF2B5EF4-FFF2-40B4-BE49-F238E27FC236}">
                <a16:creationId xmlns:a16="http://schemas.microsoft.com/office/drawing/2014/main" id="{4B4A2565-E866-461F-9FCA-B8835144327C}"/>
              </a:ext>
            </a:extLst>
          </p:cNvPr>
          <p:cNvSpPr>
            <a:spLocks noGrp="1"/>
          </p:cNvSpPr>
          <p:nvPr/>
        </p:nvSpPr>
        <p:spPr>
          <a:xfrm>
            <a:off x="876300" y="2619375"/>
            <a:ext cx="819150" cy="590550"/>
          </a:xfrm>
          <a:prstGeom prst="rect">
            <a:avLst/>
          </a:prstGeom>
          <a:noFill/>
          <a:ln w="0">
            <a:noFill/>
          </a:ln>
        </p:spPr>
        <p:txBody>
          <a:bodyPr anchor="ctr">
            <a:normAutofit fontScale="94927"/>
          </a:bodyPr>
          <a:lstStyle/>
          <a:p>
            <a:pPr algn="l">
              <a:lnSpc>
                <a:spcPct val="100000"/>
              </a:lnSpc>
              <a:buNone/>
              <a:defRPr sz="3450" b="1">
                <a:solidFill>
                  <a:srgbClr val="2F6FED"/>
                </a:solidFill>
                <a:latin typeface="Aptos Display"/>
                <a:ea typeface="Aptos Display"/>
                <a:cs typeface="Aptos Display"/>
              </a:defRPr>
            </a:pPr>
            <a:r>
              <a:rPr sz="3450" b="1">
                <a:solidFill>
                  <a:srgbClr val="2F6FED"/>
                </a:solidFill>
                <a:latin typeface="Aptos Display"/>
                <a:ea typeface="Aptos Display"/>
                <a:cs typeface="Aptos Display"/>
              </a:rPr>
              <a:t>03</a:t>
            </a:r>
          </a:p>
        </p:txBody>
      </p:sp>
      <p:sp>
        <p:nvSpPr>
          <p:cNvPr id="6" name="Rectangle 5">
            <a:extLst>
              <a:ext uri="{FF2B5EF4-FFF2-40B4-BE49-F238E27FC236}">
                <a16:creationId xmlns:a16="http://schemas.microsoft.com/office/drawing/2014/main" id="{FE916A14-E900-4D47-A89B-3DAA6E9D7B2C}"/>
              </a:ext>
            </a:extLst>
          </p:cNvPr>
          <p:cNvSpPr>
            <a:spLocks noGrp="1"/>
          </p:cNvSpPr>
          <p:nvPr/>
        </p:nvSpPr>
        <p:spPr>
          <a:xfrm>
            <a:off x="1657350" y="2781300"/>
            <a:ext cx="514350" cy="247650"/>
          </a:xfrm>
          <a:prstGeom prst="rect">
            <a:avLst/>
          </a:prstGeom>
          <a:noFill/>
          <a:ln w="0">
            <a:noFill/>
          </a:ln>
        </p:spPr>
        <p:txBody>
          <a:bodyPr anchor="ctr">
            <a:normAutofit fontScale="97619"/>
          </a:bodyPr>
          <a:lstStyle/>
          <a:p>
            <a:pPr algn="l">
              <a:lnSpc>
                <a:spcPct val="100000"/>
              </a:lnSpc>
              <a:buNone/>
              <a:defRPr sz="1050" b="1">
                <a:solidFill>
                  <a:srgbClr val="706A5D"/>
                </a:solidFill>
                <a:latin typeface="Aptos"/>
                <a:ea typeface="Aptos"/>
                <a:cs typeface="Aptos"/>
              </a:defRPr>
            </a:pPr>
            <a:r>
              <a:rPr sz="1050" b="1">
                <a:solidFill>
                  <a:srgbClr val="706A5D"/>
                </a:solidFill>
                <a:latin typeface="Aptos"/>
                <a:ea typeface="Aptos"/>
                <a:cs typeface="Aptos"/>
              </a:rPr>
              <a:t>MIN</a:t>
            </a:r>
          </a:p>
        </p:txBody>
      </p:sp>
      <p:sp>
        <p:nvSpPr>
          <p:cNvPr id="7" name="Straight Connector 6">
            <a:extLst>
              <a:ext uri="{FF2B5EF4-FFF2-40B4-BE49-F238E27FC236}">
                <a16:creationId xmlns:a16="http://schemas.microsoft.com/office/drawing/2014/main" id="{B34306C1-ECDA-4964-8AA8-6E2886A9307C}"/>
              </a:ext>
            </a:extLst>
          </p:cNvPr>
          <p:cNvSpPr>
            <a:spLocks noGrp="1"/>
          </p:cNvSpPr>
          <p:nvPr/>
        </p:nvSpPr>
        <p:spPr>
          <a:xfrm>
            <a:off x="876300" y="3276600"/>
            <a:ext cx="2819400" cy="0"/>
          </a:xfrm>
          <a:prstGeom prst="line">
            <a:avLst/>
          </a:prstGeom>
          <a:noFill/>
          <a:ln w="38100">
            <a:solidFill>
              <a:srgbClr val="2F6FED"/>
            </a:solidFill>
            <a:prstDash val="solid"/>
          </a:ln>
        </p:spPr>
        <p:txBody>
          <a:bodyPr/>
          <a:lstStyle/>
          <a:p>
            <a:endParaRPr lang="en-DE"/>
          </a:p>
        </p:txBody>
      </p:sp>
      <p:sp>
        <p:nvSpPr>
          <p:cNvPr id="8" name="Rectangle 7">
            <a:extLst>
              <a:ext uri="{FF2B5EF4-FFF2-40B4-BE49-F238E27FC236}">
                <a16:creationId xmlns:a16="http://schemas.microsoft.com/office/drawing/2014/main" id="{AFBA502F-24C9-4743-9A52-38F30A5F1B84}"/>
              </a:ext>
            </a:extLst>
          </p:cNvPr>
          <p:cNvSpPr>
            <a:spLocks noGrp="1"/>
          </p:cNvSpPr>
          <p:nvPr/>
        </p:nvSpPr>
        <p:spPr>
          <a:xfrm>
            <a:off x="876300" y="3476625"/>
            <a:ext cx="2857500" cy="400050"/>
          </a:xfrm>
          <a:prstGeom prst="rect">
            <a:avLst/>
          </a:prstGeom>
          <a:noFill/>
          <a:ln w="0">
            <a:noFill/>
          </a:ln>
        </p:spPr>
        <p:txBody>
          <a:bodyPr anchor="ctr">
            <a:normAutofit/>
          </a:bodyPr>
          <a:lstStyle/>
          <a:p>
            <a:pPr algn="l">
              <a:lnSpc>
                <a:spcPct val="100000"/>
              </a:lnSpc>
              <a:buNone/>
              <a:defRPr sz="1500" b="1">
                <a:solidFill>
                  <a:srgbClr val="2F6FED"/>
                </a:solidFill>
                <a:latin typeface="Aptos"/>
                <a:ea typeface="Aptos"/>
                <a:cs typeface="Aptos"/>
              </a:defRPr>
            </a:pPr>
            <a:r>
              <a:rPr sz="1500" b="1">
                <a:solidFill>
                  <a:srgbClr val="2F6FED"/>
                </a:solidFill>
                <a:latin typeface="Aptos"/>
                <a:ea typeface="Aptos"/>
                <a:cs typeface="Aptos"/>
              </a:rPr>
              <a:t>PLAY</a:t>
            </a:r>
          </a:p>
        </p:txBody>
      </p:sp>
      <p:sp>
        <p:nvSpPr>
          <p:cNvPr id="9" name="Rectangle 8">
            <a:extLst>
              <a:ext uri="{FF2B5EF4-FFF2-40B4-BE49-F238E27FC236}">
                <a16:creationId xmlns:a16="http://schemas.microsoft.com/office/drawing/2014/main" id="{5413FA6C-B599-4AE9-B669-F0FA1DC9A0D7}"/>
              </a:ext>
            </a:extLst>
          </p:cNvPr>
          <p:cNvSpPr>
            <a:spLocks noGrp="1"/>
          </p:cNvSpPr>
          <p:nvPr/>
        </p:nvSpPr>
        <p:spPr>
          <a:xfrm>
            <a:off x="876300" y="3933825"/>
            <a:ext cx="2800350" cy="714375"/>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A neighbouring group plays silently.</a:t>
            </a:r>
          </a:p>
        </p:txBody>
      </p:sp>
      <p:sp>
        <p:nvSpPr>
          <p:cNvPr id="10" name="Rectangle: Rounded Corners 9">
            <a:extLst>
              <a:ext uri="{FF2B5EF4-FFF2-40B4-BE49-F238E27FC236}">
                <a16:creationId xmlns:a16="http://schemas.microsoft.com/office/drawing/2014/main" id="{A9AEC469-6496-4E33-9DB5-0042A344A69E}"/>
              </a:ext>
            </a:extLst>
          </p:cNvPr>
          <p:cNvSpPr>
            <a:spLocks noGrp="1"/>
          </p:cNvSpPr>
          <p:nvPr/>
        </p:nvSpPr>
        <p:spPr>
          <a:xfrm>
            <a:off x="4324350" y="2476500"/>
            <a:ext cx="3276600" cy="2381250"/>
          </a:xfrm>
          <a:prstGeom prst="roundRect">
            <a:avLst>
              <a:gd name="adj" fmla="val 3200"/>
            </a:avLst>
          </a:prstGeom>
          <a:solidFill>
            <a:srgbClr val="FFFFFF"/>
          </a:solidFill>
          <a:ln w="9525">
            <a:solidFill>
              <a:srgbClr val="D8CDB9"/>
            </a:solidFill>
            <a:prstDash val="solid"/>
          </a:ln>
        </p:spPr>
        <p:txBody>
          <a:bodyPr/>
          <a:lstStyle/>
          <a:p>
            <a:endParaRPr lang="en-DE"/>
          </a:p>
        </p:txBody>
      </p:sp>
      <p:sp>
        <p:nvSpPr>
          <p:cNvPr id="11" name="Rectangle 10">
            <a:extLst>
              <a:ext uri="{FF2B5EF4-FFF2-40B4-BE49-F238E27FC236}">
                <a16:creationId xmlns:a16="http://schemas.microsoft.com/office/drawing/2014/main" id="{08ADECA9-FA5A-4D43-A92D-2A74F73BB66B}"/>
              </a:ext>
            </a:extLst>
          </p:cNvPr>
          <p:cNvSpPr>
            <a:spLocks noGrp="1"/>
          </p:cNvSpPr>
          <p:nvPr/>
        </p:nvSpPr>
        <p:spPr>
          <a:xfrm>
            <a:off x="4533900" y="2619375"/>
            <a:ext cx="819150" cy="590550"/>
          </a:xfrm>
          <a:prstGeom prst="rect">
            <a:avLst/>
          </a:prstGeom>
          <a:noFill/>
          <a:ln w="0">
            <a:noFill/>
          </a:ln>
        </p:spPr>
        <p:txBody>
          <a:bodyPr anchor="ctr">
            <a:normAutofit fontScale="94927"/>
          </a:bodyPr>
          <a:lstStyle/>
          <a:p>
            <a:pPr algn="l">
              <a:lnSpc>
                <a:spcPct val="100000"/>
              </a:lnSpc>
              <a:buNone/>
              <a:defRPr sz="3450" b="1">
                <a:solidFill>
                  <a:srgbClr val="BE2F9F"/>
                </a:solidFill>
                <a:latin typeface="Aptos Display"/>
                <a:ea typeface="Aptos Display"/>
                <a:cs typeface="Aptos Display"/>
              </a:defRPr>
            </a:pPr>
            <a:r>
              <a:rPr sz="3450" b="1">
                <a:solidFill>
                  <a:srgbClr val="BE2F9F"/>
                </a:solidFill>
                <a:latin typeface="Aptos Display"/>
                <a:ea typeface="Aptos Display"/>
                <a:cs typeface="Aptos Display"/>
              </a:rPr>
              <a:t>02</a:t>
            </a:r>
          </a:p>
        </p:txBody>
      </p:sp>
      <p:sp>
        <p:nvSpPr>
          <p:cNvPr id="12" name="Rectangle 11">
            <a:extLst>
              <a:ext uri="{FF2B5EF4-FFF2-40B4-BE49-F238E27FC236}">
                <a16:creationId xmlns:a16="http://schemas.microsoft.com/office/drawing/2014/main" id="{D1964146-9589-4D0C-835B-BF95BDE5B245}"/>
              </a:ext>
            </a:extLst>
          </p:cNvPr>
          <p:cNvSpPr>
            <a:spLocks noGrp="1"/>
          </p:cNvSpPr>
          <p:nvPr/>
        </p:nvSpPr>
        <p:spPr>
          <a:xfrm>
            <a:off x="5314950" y="2781300"/>
            <a:ext cx="514350" cy="247650"/>
          </a:xfrm>
          <a:prstGeom prst="rect">
            <a:avLst/>
          </a:prstGeom>
          <a:noFill/>
          <a:ln w="0">
            <a:noFill/>
          </a:ln>
        </p:spPr>
        <p:txBody>
          <a:bodyPr anchor="ctr">
            <a:normAutofit fontScale="97619"/>
          </a:bodyPr>
          <a:lstStyle/>
          <a:p>
            <a:pPr algn="l">
              <a:lnSpc>
                <a:spcPct val="100000"/>
              </a:lnSpc>
              <a:buNone/>
              <a:defRPr sz="1050" b="1">
                <a:solidFill>
                  <a:srgbClr val="706A5D"/>
                </a:solidFill>
                <a:latin typeface="Aptos"/>
                <a:ea typeface="Aptos"/>
                <a:cs typeface="Aptos"/>
              </a:defRPr>
            </a:pPr>
            <a:r>
              <a:rPr sz="1050" b="1">
                <a:solidFill>
                  <a:srgbClr val="706A5D"/>
                </a:solidFill>
                <a:latin typeface="Aptos"/>
                <a:ea typeface="Aptos"/>
                <a:cs typeface="Aptos"/>
              </a:rPr>
              <a:t>MIN</a:t>
            </a:r>
          </a:p>
        </p:txBody>
      </p:sp>
      <p:sp>
        <p:nvSpPr>
          <p:cNvPr id="13" name="Straight Connector 12">
            <a:extLst>
              <a:ext uri="{FF2B5EF4-FFF2-40B4-BE49-F238E27FC236}">
                <a16:creationId xmlns:a16="http://schemas.microsoft.com/office/drawing/2014/main" id="{43E9176E-E3B0-40F4-8EB1-74AE273FCE5F}"/>
              </a:ext>
            </a:extLst>
          </p:cNvPr>
          <p:cNvSpPr>
            <a:spLocks noGrp="1"/>
          </p:cNvSpPr>
          <p:nvPr/>
        </p:nvSpPr>
        <p:spPr>
          <a:xfrm>
            <a:off x="4533900" y="3276600"/>
            <a:ext cx="2819400" cy="0"/>
          </a:xfrm>
          <a:prstGeom prst="line">
            <a:avLst/>
          </a:prstGeom>
          <a:noFill/>
          <a:ln w="38100">
            <a:solidFill>
              <a:srgbClr val="BE2F9F"/>
            </a:solidFill>
            <a:prstDash val="solid"/>
          </a:ln>
        </p:spPr>
        <p:txBody>
          <a:bodyPr/>
          <a:lstStyle/>
          <a:p>
            <a:endParaRPr lang="en-DE"/>
          </a:p>
        </p:txBody>
      </p:sp>
      <p:sp>
        <p:nvSpPr>
          <p:cNvPr id="14" name="Rectangle 13">
            <a:extLst>
              <a:ext uri="{FF2B5EF4-FFF2-40B4-BE49-F238E27FC236}">
                <a16:creationId xmlns:a16="http://schemas.microsoft.com/office/drawing/2014/main" id="{E7BA6223-4492-4BBF-B356-CCD2CF19D03D}"/>
              </a:ext>
            </a:extLst>
          </p:cNvPr>
          <p:cNvSpPr>
            <a:spLocks noGrp="1"/>
          </p:cNvSpPr>
          <p:nvPr/>
        </p:nvSpPr>
        <p:spPr>
          <a:xfrm>
            <a:off x="4533900" y="3476625"/>
            <a:ext cx="2857500" cy="400050"/>
          </a:xfrm>
          <a:prstGeom prst="rect">
            <a:avLst/>
          </a:prstGeom>
          <a:noFill/>
          <a:ln w="0">
            <a:noFill/>
          </a:ln>
        </p:spPr>
        <p:txBody>
          <a:bodyPr anchor="ctr">
            <a:normAutofit/>
          </a:bodyPr>
          <a:lstStyle/>
          <a:p>
            <a:pPr algn="l">
              <a:lnSpc>
                <a:spcPct val="100000"/>
              </a:lnSpc>
              <a:buNone/>
              <a:defRPr sz="1500" b="1">
                <a:solidFill>
                  <a:srgbClr val="BE2F9F"/>
                </a:solidFill>
                <a:latin typeface="Aptos"/>
                <a:ea typeface="Aptos"/>
                <a:cs typeface="Aptos"/>
              </a:defRPr>
            </a:pPr>
            <a:r>
              <a:rPr sz="1500" b="1">
                <a:solidFill>
                  <a:srgbClr val="BE2F9F"/>
                </a:solidFill>
                <a:latin typeface="Aptos"/>
                <a:ea typeface="Aptos"/>
                <a:cs typeface="Aptos"/>
              </a:rPr>
              <a:t>OBSERVE</a:t>
            </a:r>
          </a:p>
        </p:txBody>
      </p:sp>
      <p:sp>
        <p:nvSpPr>
          <p:cNvPr id="15" name="Rectangle 14">
            <a:extLst>
              <a:ext uri="{FF2B5EF4-FFF2-40B4-BE49-F238E27FC236}">
                <a16:creationId xmlns:a16="http://schemas.microsoft.com/office/drawing/2014/main" id="{E045B035-46CE-452F-950C-54215D692A53}"/>
              </a:ext>
            </a:extLst>
          </p:cNvPr>
          <p:cNvSpPr>
            <a:spLocks noGrp="1"/>
          </p:cNvSpPr>
          <p:nvPr/>
        </p:nvSpPr>
        <p:spPr>
          <a:xfrm>
            <a:off x="4533900" y="3933825"/>
            <a:ext cx="2800350" cy="714375"/>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Where do they hesitate, fail or smile?</a:t>
            </a:r>
          </a:p>
        </p:txBody>
      </p:sp>
      <p:sp>
        <p:nvSpPr>
          <p:cNvPr id="16" name="Rectangle: Rounded Corners 15">
            <a:extLst>
              <a:ext uri="{FF2B5EF4-FFF2-40B4-BE49-F238E27FC236}">
                <a16:creationId xmlns:a16="http://schemas.microsoft.com/office/drawing/2014/main" id="{97712310-9132-43C0-95C2-E14F3B1413E9}"/>
              </a:ext>
            </a:extLst>
          </p:cNvPr>
          <p:cNvSpPr>
            <a:spLocks noGrp="1"/>
          </p:cNvSpPr>
          <p:nvPr/>
        </p:nvSpPr>
        <p:spPr>
          <a:xfrm>
            <a:off x="7981950" y="2476500"/>
            <a:ext cx="3276600" cy="2381250"/>
          </a:xfrm>
          <a:prstGeom prst="roundRect">
            <a:avLst>
              <a:gd name="adj" fmla="val 3200"/>
            </a:avLst>
          </a:prstGeom>
          <a:solidFill>
            <a:srgbClr val="FFFFFF"/>
          </a:solidFill>
          <a:ln w="9525">
            <a:solidFill>
              <a:srgbClr val="D8CDB9"/>
            </a:solidFill>
            <a:prstDash val="solid"/>
          </a:ln>
        </p:spPr>
        <p:txBody>
          <a:bodyPr/>
          <a:lstStyle/>
          <a:p>
            <a:endParaRPr lang="en-DE"/>
          </a:p>
        </p:txBody>
      </p:sp>
      <p:sp>
        <p:nvSpPr>
          <p:cNvPr id="17" name="Rectangle 16">
            <a:extLst>
              <a:ext uri="{FF2B5EF4-FFF2-40B4-BE49-F238E27FC236}">
                <a16:creationId xmlns:a16="http://schemas.microsoft.com/office/drawing/2014/main" id="{E331E09F-711D-4FAF-BF1D-8FBFB19EFAED}"/>
              </a:ext>
            </a:extLst>
          </p:cNvPr>
          <p:cNvSpPr>
            <a:spLocks noGrp="1"/>
          </p:cNvSpPr>
          <p:nvPr/>
        </p:nvSpPr>
        <p:spPr>
          <a:xfrm>
            <a:off x="8191500" y="2619375"/>
            <a:ext cx="819150" cy="590550"/>
          </a:xfrm>
          <a:prstGeom prst="rect">
            <a:avLst/>
          </a:prstGeom>
          <a:noFill/>
          <a:ln w="0">
            <a:noFill/>
          </a:ln>
        </p:spPr>
        <p:txBody>
          <a:bodyPr anchor="ctr">
            <a:normAutofit fontScale="94927"/>
          </a:bodyPr>
          <a:lstStyle/>
          <a:p>
            <a:pPr algn="l">
              <a:lnSpc>
                <a:spcPct val="100000"/>
              </a:lnSpc>
              <a:buNone/>
              <a:defRPr sz="3450" b="1">
                <a:solidFill>
                  <a:srgbClr val="26845A"/>
                </a:solidFill>
                <a:latin typeface="Aptos Display"/>
                <a:ea typeface="Aptos Display"/>
                <a:cs typeface="Aptos Display"/>
              </a:defRPr>
            </a:pPr>
            <a:r>
              <a:rPr sz="3450" b="1">
                <a:solidFill>
                  <a:srgbClr val="26845A"/>
                </a:solidFill>
                <a:latin typeface="Aptos Display"/>
                <a:ea typeface="Aptos Display"/>
                <a:cs typeface="Aptos Display"/>
              </a:rPr>
              <a:t>03</a:t>
            </a:r>
          </a:p>
        </p:txBody>
      </p:sp>
      <p:sp>
        <p:nvSpPr>
          <p:cNvPr id="18" name="Rectangle 17">
            <a:extLst>
              <a:ext uri="{FF2B5EF4-FFF2-40B4-BE49-F238E27FC236}">
                <a16:creationId xmlns:a16="http://schemas.microsoft.com/office/drawing/2014/main" id="{10CC9E77-8F03-44AE-AD07-CB80841CB32B}"/>
              </a:ext>
            </a:extLst>
          </p:cNvPr>
          <p:cNvSpPr>
            <a:spLocks noGrp="1"/>
          </p:cNvSpPr>
          <p:nvPr/>
        </p:nvSpPr>
        <p:spPr>
          <a:xfrm>
            <a:off x="8972550" y="2781300"/>
            <a:ext cx="514350" cy="247650"/>
          </a:xfrm>
          <a:prstGeom prst="rect">
            <a:avLst/>
          </a:prstGeom>
          <a:noFill/>
          <a:ln w="0">
            <a:noFill/>
          </a:ln>
        </p:spPr>
        <p:txBody>
          <a:bodyPr anchor="ctr">
            <a:normAutofit fontScale="97619"/>
          </a:bodyPr>
          <a:lstStyle/>
          <a:p>
            <a:pPr algn="l">
              <a:lnSpc>
                <a:spcPct val="100000"/>
              </a:lnSpc>
              <a:buNone/>
              <a:defRPr sz="1050" b="1">
                <a:solidFill>
                  <a:srgbClr val="706A5D"/>
                </a:solidFill>
                <a:latin typeface="Aptos"/>
                <a:ea typeface="Aptos"/>
                <a:cs typeface="Aptos"/>
              </a:defRPr>
            </a:pPr>
            <a:r>
              <a:rPr sz="1050" b="1">
                <a:solidFill>
                  <a:srgbClr val="706A5D"/>
                </a:solidFill>
                <a:latin typeface="Aptos"/>
                <a:ea typeface="Aptos"/>
                <a:cs typeface="Aptos"/>
              </a:rPr>
              <a:t>MIN</a:t>
            </a:r>
          </a:p>
        </p:txBody>
      </p:sp>
      <p:sp>
        <p:nvSpPr>
          <p:cNvPr id="19" name="Straight Connector 18">
            <a:extLst>
              <a:ext uri="{FF2B5EF4-FFF2-40B4-BE49-F238E27FC236}">
                <a16:creationId xmlns:a16="http://schemas.microsoft.com/office/drawing/2014/main" id="{8134241D-BCA2-4955-8DBF-2BC1F02D0FE3}"/>
              </a:ext>
            </a:extLst>
          </p:cNvPr>
          <p:cNvSpPr>
            <a:spLocks noGrp="1"/>
          </p:cNvSpPr>
          <p:nvPr/>
        </p:nvSpPr>
        <p:spPr>
          <a:xfrm>
            <a:off x="8191500" y="3276600"/>
            <a:ext cx="2819400" cy="0"/>
          </a:xfrm>
          <a:prstGeom prst="line">
            <a:avLst/>
          </a:prstGeom>
          <a:noFill/>
          <a:ln w="38100">
            <a:solidFill>
              <a:srgbClr val="26845A"/>
            </a:solidFill>
            <a:prstDash val="solid"/>
          </a:ln>
        </p:spPr>
        <p:txBody>
          <a:bodyPr/>
          <a:lstStyle/>
          <a:p>
            <a:endParaRPr lang="en-DE"/>
          </a:p>
        </p:txBody>
      </p:sp>
      <p:sp>
        <p:nvSpPr>
          <p:cNvPr id="20" name="Rectangle 19">
            <a:extLst>
              <a:ext uri="{FF2B5EF4-FFF2-40B4-BE49-F238E27FC236}">
                <a16:creationId xmlns:a16="http://schemas.microsoft.com/office/drawing/2014/main" id="{7BC1A881-EAA6-4E95-8844-34559124B5AA}"/>
              </a:ext>
            </a:extLst>
          </p:cNvPr>
          <p:cNvSpPr>
            <a:spLocks noGrp="1"/>
          </p:cNvSpPr>
          <p:nvPr/>
        </p:nvSpPr>
        <p:spPr>
          <a:xfrm>
            <a:off x="8191500" y="3476625"/>
            <a:ext cx="2857500" cy="400050"/>
          </a:xfrm>
          <a:prstGeom prst="rect">
            <a:avLst/>
          </a:prstGeom>
          <a:noFill/>
          <a:ln w="0">
            <a:noFill/>
          </a:ln>
        </p:spPr>
        <p:txBody>
          <a:bodyPr anchor="ctr">
            <a:normAutofit/>
          </a:bodyPr>
          <a:lstStyle/>
          <a:p>
            <a:pPr algn="l">
              <a:lnSpc>
                <a:spcPct val="100000"/>
              </a:lnSpc>
              <a:buNone/>
              <a:defRPr sz="1500" b="1">
                <a:solidFill>
                  <a:srgbClr val="26845A"/>
                </a:solidFill>
                <a:latin typeface="Aptos"/>
                <a:ea typeface="Aptos"/>
                <a:cs typeface="Aptos"/>
              </a:defRPr>
            </a:pPr>
            <a:r>
              <a:rPr sz="1500" b="1">
                <a:solidFill>
                  <a:srgbClr val="26845A"/>
                </a:solidFill>
                <a:latin typeface="Aptos"/>
                <a:ea typeface="Aptos"/>
                <a:cs typeface="Aptos"/>
              </a:rPr>
              <a:t>DECIDE</a:t>
            </a:r>
          </a:p>
        </p:txBody>
      </p:sp>
      <p:sp>
        <p:nvSpPr>
          <p:cNvPr id="21" name="Rectangle 20">
            <a:extLst>
              <a:ext uri="{FF2B5EF4-FFF2-40B4-BE49-F238E27FC236}">
                <a16:creationId xmlns:a16="http://schemas.microsoft.com/office/drawing/2014/main" id="{1C9B0A72-860C-4935-A0E0-41B132BFFAD3}"/>
              </a:ext>
            </a:extLst>
          </p:cNvPr>
          <p:cNvSpPr>
            <a:spLocks noGrp="1"/>
          </p:cNvSpPr>
          <p:nvPr/>
        </p:nvSpPr>
        <p:spPr>
          <a:xfrm>
            <a:off x="8191500" y="3933825"/>
            <a:ext cx="2800350" cy="714375"/>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Choose one improvement only.</a:t>
            </a:r>
          </a:p>
        </p:txBody>
      </p:sp>
      <p:sp>
        <p:nvSpPr>
          <p:cNvPr id="22" name="Rectangle 21">
            <a:extLst>
              <a:ext uri="{FF2B5EF4-FFF2-40B4-BE49-F238E27FC236}">
                <a16:creationId xmlns:a16="http://schemas.microsoft.com/office/drawing/2014/main" id="{EF06D8AC-305F-4C73-8F22-6E7664BEB3D5}"/>
              </a:ext>
            </a:extLst>
          </p:cNvPr>
          <p:cNvSpPr>
            <a:spLocks noGrp="1"/>
          </p:cNvSpPr>
          <p:nvPr/>
        </p:nvSpPr>
        <p:spPr>
          <a:xfrm>
            <a:off x="1143000" y="5381625"/>
            <a:ext cx="9906000" cy="533400"/>
          </a:xfrm>
          <a:prstGeom prst="rect">
            <a:avLst/>
          </a:prstGeom>
          <a:noFill/>
          <a:ln w="0">
            <a:noFill/>
          </a:ln>
        </p:spPr>
        <p:txBody>
          <a:bodyPr anchor="ctr">
            <a:normAutofit/>
          </a:bodyPr>
          <a:lstStyle/>
          <a:p>
            <a:pPr algn="ctr">
              <a:lnSpc>
                <a:spcPct val="100000"/>
              </a:lnSpc>
              <a:buNone/>
              <a:defRPr sz="1950" b="1">
                <a:solidFill>
                  <a:srgbClr val="181611"/>
                </a:solidFill>
                <a:latin typeface="Aptos"/>
                <a:ea typeface="Aptos"/>
                <a:cs typeface="Aptos"/>
              </a:defRPr>
            </a:pPr>
            <a:r>
              <a:rPr sz="1950" b="1">
                <a:solidFill>
                  <a:srgbClr val="181611"/>
                </a:solidFill>
                <a:latin typeface="Aptos"/>
                <a:ea typeface="Aptos"/>
                <a:cs typeface="Aptos"/>
              </a:rPr>
              <a:t>Evidence is a behaviour you saw, not an opinion you heard.</a:t>
            </a:r>
          </a:p>
        </p:txBody>
      </p:sp>
      <p:sp>
        <p:nvSpPr>
          <p:cNvPr id="23" name="Rectangle 22">
            <a:extLst>
              <a:ext uri="{FF2B5EF4-FFF2-40B4-BE49-F238E27FC236}">
                <a16:creationId xmlns:a16="http://schemas.microsoft.com/office/drawing/2014/main" id="{501D5CD5-9705-4AA9-B09E-DE104D5CBC2F}"/>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07</a:t>
            </a:r>
          </a:p>
        </p:txBody>
      </p:sp>
    </p:spTree>
    <p:extLst>
      <p:ext uri="{BB962C8B-B14F-4D97-AF65-F5344CB8AC3E}">
        <p14:creationId xmlns:p14="http://schemas.microsoft.com/office/powerpoint/2010/main" val="140366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ED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3E9A4C8-87A1-4231-875F-6199C552288B}"/>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IMPROVE · 10 MINUTES / PUBLISH · 5 MINUTES</a:t>
            </a:r>
          </a:p>
        </p:txBody>
      </p:sp>
      <p:sp>
        <p:nvSpPr>
          <p:cNvPr id="2" name="Rectangle 1">
            <a:extLst>
              <a:ext uri="{FF2B5EF4-FFF2-40B4-BE49-F238E27FC236}">
                <a16:creationId xmlns:a16="http://schemas.microsoft.com/office/drawing/2014/main" id="{6502E3B1-5CFD-4155-B6C6-496608238A78}"/>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Change one thing that the evidence earned.</a:t>
            </a:r>
          </a:p>
        </p:txBody>
      </p:sp>
      <p:sp>
        <p:nvSpPr>
          <p:cNvPr id="3" name="Rectangle: Rounded Corners 2">
            <a:extLst>
              <a:ext uri="{FF2B5EF4-FFF2-40B4-BE49-F238E27FC236}">
                <a16:creationId xmlns:a16="http://schemas.microsoft.com/office/drawing/2014/main" id="{033EE683-614E-4C25-9371-161895F551D5}"/>
              </a:ext>
            </a:extLst>
          </p:cNvPr>
          <p:cNvSpPr>
            <a:spLocks noGrp="1"/>
          </p:cNvSpPr>
          <p:nvPr/>
        </p:nvSpPr>
        <p:spPr>
          <a:xfrm>
            <a:off x="723900" y="2238375"/>
            <a:ext cx="3962400" cy="2476500"/>
          </a:xfrm>
          <a:prstGeom prst="roundRect">
            <a:avLst>
              <a:gd name="adj" fmla="val 3077"/>
            </a:avLst>
          </a:prstGeom>
          <a:solidFill>
            <a:srgbClr val="E9E2D5"/>
          </a:solidFill>
          <a:ln w="9525">
            <a:solidFill>
              <a:srgbClr val="D8CDB9"/>
            </a:solidFill>
            <a:prstDash val="solid"/>
          </a:ln>
        </p:spPr>
        <p:txBody>
          <a:bodyPr/>
          <a:lstStyle/>
          <a:p>
            <a:endParaRPr lang="en-DE"/>
          </a:p>
        </p:txBody>
      </p:sp>
      <p:sp>
        <p:nvSpPr>
          <p:cNvPr id="4" name="Rectangle 3">
            <a:extLst>
              <a:ext uri="{FF2B5EF4-FFF2-40B4-BE49-F238E27FC236}">
                <a16:creationId xmlns:a16="http://schemas.microsoft.com/office/drawing/2014/main" id="{7C75D408-2C4B-466A-A8BB-E4D919CF0E64}"/>
              </a:ext>
            </a:extLst>
          </p:cNvPr>
          <p:cNvSpPr>
            <a:spLocks noGrp="1"/>
          </p:cNvSpPr>
          <p:nvPr/>
        </p:nvSpPr>
        <p:spPr>
          <a:xfrm>
            <a:off x="971550" y="2447925"/>
            <a:ext cx="1143000" cy="266700"/>
          </a:xfrm>
          <a:prstGeom prst="rect">
            <a:avLst/>
          </a:prstGeom>
          <a:noFill/>
          <a:ln w="0">
            <a:noFill/>
          </a:ln>
        </p:spPr>
        <p:txBody>
          <a:bodyPr anchor="ctr">
            <a:normAutofit/>
          </a:bodyPr>
          <a:lstStyle/>
          <a:p>
            <a:pPr algn="l">
              <a:lnSpc>
                <a:spcPct val="100000"/>
              </a:lnSpc>
              <a:buNone/>
              <a:defRPr sz="1125" b="1">
                <a:solidFill>
                  <a:srgbClr val="706A5D"/>
                </a:solidFill>
                <a:latin typeface="Aptos"/>
                <a:ea typeface="Aptos"/>
                <a:cs typeface="Aptos"/>
              </a:defRPr>
            </a:pPr>
            <a:r>
              <a:rPr sz="1125" b="1">
                <a:solidFill>
                  <a:srgbClr val="706A5D"/>
                </a:solidFill>
                <a:latin typeface="Aptos"/>
                <a:ea typeface="Aptos"/>
                <a:cs typeface="Aptos"/>
              </a:rPr>
              <a:t>BEFORE</a:t>
            </a:r>
          </a:p>
        </p:txBody>
      </p:sp>
      <p:sp>
        <p:nvSpPr>
          <p:cNvPr id="5" name="Rectangle 4">
            <a:extLst>
              <a:ext uri="{FF2B5EF4-FFF2-40B4-BE49-F238E27FC236}">
                <a16:creationId xmlns:a16="http://schemas.microsoft.com/office/drawing/2014/main" id="{44498583-991B-4F49-84BE-45A74223AA3B}"/>
              </a:ext>
            </a:extLst>
          </p:cNvPr>
          <p:cNvSpPr>
            <a:spLocks noGrp="1"/>
          </p:cNvSpPr>
          <p:nvPr/>
        </p:nvSpPr>
        <p:spPr>
          <a:xfrm>
            <a:off x="971550" y="2943225"/>
            <a:ext cx="3238500" cy="400050"/>
          </a:xfrm>
          <a:prstGeom prst="rect">
            <a:avLst/>
          </a:prstGeom>
          <a:noFill/>
          <a:ln w="0">
            <a:noFill/>
          </a:ln>
        </p:spPr>
        <p:txBody>
          <a:bodyPr anchor="ctr">
            <a:normAutofit fontScale="93103"/>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What happened?</a:t>
            </a:r>
          </a:p>
        </p:txBody>
      </p:sp>
      <p:sp>
        <p:nvSpPr>
          <p:cNvPr id="6" name="Rectangle 5">
            <a:extLst>
              <a:ext uri="{FF2B5EF4-FFF2-40B4-BE49-F238E27FC236}">
                <a16:creationId xmlns:a16="http://schemas.microsoft.com/office/drawing/2014/main" id="{561C3D2D-31FB-4635-A8E8-33E08A4E2A61}"/>
              </a:ext>
            </a:extLst>
          </p:cNvPr>
          <p:cNvSpPr>
            <a:spLocks noGrp="1"/>
          </p:cNvSpPr>
          <p:nvPr/>
        </p:nvSpPr>
        <p:spPr>
          <a:xfrm>
            <a:off x="971550" y="3514725"/>
            <a:ext cx="3162300" cy="647700"/>
          </a:xfrm>
          <a:prstGeom prst="rect">
            <a:avLst/>
          </a:prstGeom>
          <a:noFill/>
          <a:ln w="0">
            <a:noFill/>
          </a:ln>
        </p:spPr>
        <p:txBody>
          <a:bodyPr anchor="ctr">
            <a:normAutofit/>
          </a:bodyPr>
          <a:lstStyle/>
          <a:p>
            <a:pPr algn="l">
              <a:lnSpc>
                <a:spcPct val="100000"/>
              </a:lnSpc>
              <a:buNone/>
              <a:defRPr sz="1725" b="0">
                <a:solidFill>
                  <a:srgbClr val="706A5D"/>
                </a:solidFill>
                <a:latin typeface="Aptos"/>
                <a:ea typeface="Aptos"/>
                <a:cs typeface="Aptos"/>
              </a:defRPr>
            </a:pPr>
            <a:r>
              <a:rPr sz="1725" b="0">
                <a:solidFill>
                  <a:srgbClr val="706A5D"/>
                </a:solidFill>
                <a:latin typeface="Aptos"/>
                <a:ea typeface="Aptos"/>
                <a:cs typeface="Aptos"/>
              </a:rPr>
              <a:t>“The player did not notice the goal.”</a:t>
            </a:r>
          </a:p>
        </p:txBody>
      </p:sp>
      <p:sp>
        <p:nvSpPr>
          <p:cNvPr id="7" name="Rectangle 6">
            <a:extLst>
              <a:ext uri="{FF2B5EF4-FFF2-40B4-BE49-F238E27FC236}">
                <a16:creationId xmlns:a16="http://schemas.microsoft.com/office/drawing/2014/main" id="{F5B839FE-1CAA-4720-974D-CB1A046CEE0A}"/>
              </a:ext>
            </a:extLst>
          </p:cNvPr>
          <p:cNvSpPr>
            <a:spLocks noGrp="1"/>
          </p:cNvSpPr>
          <p:nvPr/>
        </p:nvSpPr>
        <p:spPr>
          <a:xfrm>
            <a:off x="5238750" y="2238375"/>
            <a:ext cx="762000" cy="2476500"/>
          </a:xfrm>
          <a:prstGeom prst="rect">
            <a:avLst/>
          </a:prstGeom>
          <a:solidFill>
            <a:srgbClr val="BE2F9F"/>
          </a:solidFill>
          <a:ln w="0">
            <a:solidFill>
              <a:srgbClr val="BE2F9F"/>
            </a:solidFill>
            <a:prstDash val="solid"/>
          </a:ln>
        </p:spPr>
        <p:txBody>
          <a:bodyPr/>
          <a:lstStyle/>
          <a:p>
            <a:endParaRPr lang="en-DE"/>
          </a:p>
        </p:txBody>
      </p:sp>
      <p:sp>
        <p:nvSpPr>
          <p:cNvPr id="8" name="Rectangle 7">
            <a:extLst>
              <a:ext uri="{FF2B5EF4-FFF2-40B4-BE49-F238E27FC236}">
                <a16:creationId xmlns:a16="http://schemas.microsoft.com/office/drawing/2014/main" id="{6D3E6870-5F9E-4966-90EA-CC30A37BDEB2}"/>
              </a:ext>
            </a:extLst>
          </p:cNvPr>
          <p:cNvSpPr>
            <a:spLocks noGrp="1"/>
          </p:cNvSpPr>
          <p:nvPr/>
        </p:nvSpPr>
        <p:spPr>
          <a:xfrm>
            <a:off x="5238750" y="3048000"/>
            <a:ext cx="762000" cy="781050"/>
          </a:xfrm>
          <a:prstGeom prst="rect">
            <a:avLst/>
          </a:prstGeom>
          <a:noFill/>
          <a:ln w="0">
            <a:noFill/>
          </a:ln>
        </p:spPr>
        <p:txBody>
          <a:bodyPr anchor="ctr">
            <a:normAutofit/>
          </a:bodyPr>
          <a:lstStyle/>
          <a:p>
            <a:pPr algn="ctr">
              <a:lnSpc>
                <a:spcPct val="100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a:t>
            </a:r>
          </a:p>
        </p:txBody>
      </p:sp>
      <p:sp>
        <p:nvSpPr>
          <p:cNvPr id="9" name="Rectangle: Rounded Corners 8">
            <a:extLst>
              <a:ext uri="{FF2B5EF4-FFF2-40B4-BE49-F238E27FC236}">
                <a16:creationId xmlns:a16="http://schemas.microsoft.com/office/drawing/2014/main" id="{84690969-E458-4D01-B1DB-B1843F3DF527}"/>
              </a:ext>
            </a:extLst>
          </p:cNvPr>
          <p:cNvSpPr>
            <a:spLocks noGrp="1"/>
          </p:cNvSpPr>
          <p:nvPr/>
        </p:nvSpPr>
        <p:spPr>
          <a:xfrm>
            <a:off x="6553200" y="2238375"/>
            <a:ext cx="3962400" cy="2476500"/>
          </a:xfrm>
          <a:prstGeom prst="roundRect">
            <a:avLst>
              <a:gd name="adj" fmla="val 3077"/>
            </a:avLst>
          </a:prstGeom>
          <a:solidFill>
            <a:srgbClr val="DCEFE5"/>
          </a:solidFill>
          <a:ln w="9525">
            <a:solidFill>
              <a:srgbClr val="26845A"/>
            </a:solidFill>
            <a:prstDash val="solid"/>
          </a:ln>
        </p:spPr>
        <p:txBody>
          <a:bodyPr/>
          <a:lstStyle/>
          <a:p>
            <a:endParaRPr lang="en-DE"/>
          </a:p>
        </p:txBody>
      </p:sp>
      <p:sp>
        <p:nvSpPr>
          <p:cNvPr id="10" name="Rectangle 9">
            <a:extLst>
              <a:ext uri="{FF2B5EF4-FFF2-40B4-BE49-F238E27FC236}">
                <a16:creationId xmlns:a16="http://schemas.microsoft.com/office/drawing/2014/main" id="{9EC50985-679A-4B42-8D9A-F0E985179B27}"/>
              </a:ext>
            </a:extLst>
          </p:cNvPr>
          <p:cNvSpPr>
            <a:spLocks noGrp="1"/>
          </p:cNvSpPr>
          <p:nvPr/>
        </p:nvSpPr>
        <p:spPr>
          <a:xfrm>
            <a:off x="6800850" y="2447925"/>
            <a:ext cx="1143000" cy="266700"/>
          </a:xfrm>
          <a:prstGeom prst="rect">
            <a:avLst/>
          </a:prstGeom>
          <a:noFill/>
          <a:ln w="0">
            <a:noFill/>
          </a:ln>
        </p:spPr>
        <p:txBody>
          <a:bodyPr anchor="ctr">
            <a:normAutofit/>
          </a:bodyPr>
          <a:lstStyle/>
          <a:p>
            <a:pPr algn="l">
              <a:lnSpc>
                <a:spcPct val="100000"/>
              </a:lnSpc>
              <a:buNone/>
              <a:defRPr sz="1125" b="1">
                <a:solidFill>
                  <a:srgbClr val="26845A"/>
                </a:solidFill>
                <a:latin typeface="Aptos"/>
                <a:ea typeface="Aptos"/>
                <a:cs typeface="Aptos"/>
              </a:defRPr>
            </a:pPr>
            <a:r>
              <a:rPr sz="1125" b="1">
                <a:solidFill>
                  <a:srgbClr val="26845A"/>
                </a:solidFill>
                <a:latin typeface="Aptos"/>
                <a:ea typeface="Aptos"/>
                <a:cs typeface="Aptos"/>
              </a:rPr>
              <a:t>AFTER</a:t>
            </a:r>
          </a:p>
        </p:txBody>
      </p:sp>
      <p:sp>
        <p:nvSpPr>
          <p:cNvPr id="11" name="Rectangle 10">
            <a:extLst>
              <a:ext uri="{FF2B5EF4-FFF2-40B4-BE49-F238E27FC236}">
                <a16:creationId xmlns:a16="http://schemas.microsoft.com/office/drawing/2014/main" id="{046132DE-CBCD-4C35-8331-5655E49345FC}"/>
              </a:ext>
            </a:extLst>
          </p:cNvPr>
          <p:cNvSpPr>
            <a:spLocks noGrp="1"/>
          </p:cNvSpPr>
          <p:nvPr/>
        </p:nvSpPr>
        <p:spPr>
          <a:xfrm>
            <a:off x="6800850" y="2943225"/>
            <a:ext cx="3238500" cy="400050"/>
          </a:xfrm>
          <a:prstGeom prst="rect">
            <a:avLst/>
          </a:prstGeom>
          <a:noFill/>
          <a:ln w="0">
            <a:noFill/>
          </a:ln>
        </p:spPr>
        <p:txBody>
          <a:bodyPr anchor="ctr">
            <a:normAutofit fontScale="93103"/>
          </a:bodyPr>
          <a:lstStyle/>
          <a:p>
            <a:pPr algn="l">
              <a:lnSpc>
                <a:spcPct val="100000"/>
              </a:lnSpc>
              <a:buNone/>
              <a:defRPr sz="2175" b="1">
                <a:solidFill>
                  <a:srgbClr val="181611"/>
                </a:solidFill>
                <a:latin typeface="Aptos"/>
                <a:ea typeface="Aptos"/>
                <a:cs typeface="Aptos"/>
              </a:defRPr>
            </a:pPr>
            <a:r>
              <a:rPr sz="2175" b="1">
                <a:solidFill>
                  <a:srgbClr val="181611"/>
                </a:solidFill>
                <a:latin typeface="Aptos"/>
                <a:ea typeface="Aptos"/>
                <a:cs typeface="Aptos"/>
              </a:rPr>
              <a:t>What changed?</a:t>
            </a:r>
          </a:p>
        </p:txBody>
      </p:sp>
      <p:sp>
        <p:nvSpPr>
          <p:cNvPr id="12" name="Rectangle 11">
            <a:extLst>
              <a:ext uri="{FF2B5EF4-FFF2-40B4-BE49-F238E27FC236}">
                <a16:creationId xmlns:a16="http://schemas.microsoft.com/office/drawing/2014/main" id="{60A8759D-F997-4440-AA54-AE3C586C72BB}"/>
              </a:ext>
            </a:extLst>
          </p:cNvPr>
          <p:cNvSpPr>
            <a:spLocks noGrp="1"/>
          </p:cNvSpPr>
          <p:nvPr/>
        </p:nvSpPr>
        <p:spPr>
          <a:xfrm>
            <a:off x="6800850" y="3514725"/>
            <a:ext cx="3162300" cy="647700"/>
          </a:xfrm>
          <a:prstGeom prst="rect">
            <a:avLst/>
          </a:prstGeom>
          <a:noFill/>
          <a:ln w="0">
            <a:noFill/>
          </a:ln>
        </p:spPr>
        <p:txBody>
          <a:bodyPr anchor="ctr">
            <a:normAutofit/>
          </a:bodyPr>
          <a:lstStyle/>
          <a:p>
            <a:pPr algn="l">
              <a:lnSpc>
                <a:spcPct val="100000"/>
              </a:lnSpc>
              <a:buNone/>
              <a:defRPr sz="1725" b="0">
                <a:solidFill>
                  <a:srgbClr val="181611"/>
                </a:solidFill>
                <a:latin typeface="Aptos"/>
                <a:ea typeface="Aptos"/>
                <a:cs typeface="Aptos"/>
              </a:defRPr>
            </a:pPr>
            <a:r>
              <a:rPr sz="1725" b="0">
                <a:solidFill>
                  <a:srgbClr val="181611"/>
                </a:solidFill>
                <a:latin typeface="Aptos"/>
                <a:ea typeface="Aptos"/>
                <a:cs typeface="Aptos"/>
              </a:rPr>
              <a:t>“The goal is visible before play starts.”</a:t>
            </a:r>
          </a:p>
        </p:txBody>
      </p:sp>
      <p:sp>
        <p:nvSpPr>
          <p:cNvPr id="13" name="Rectangle 12">
            <a:extLst>
              <a:ext uri="{FF2B5EF4-FFF2-40B4-BE49-F238E27FC236}">
                <a16:creationId xmlns:a16="http://schemas.microsoft.com/office/drawing/2014/main" id="{29A809E7-3AB0-4B81-859D-14F4F687B55E}"/>
              </a:ext>
            </a:extLst>
          </p:cNvPr>
          <p:cNvSpPr>
            <a:spLocks noGrp="1"/>
          </p:cNvSpPr>
          <p:nvPr/>
        </p:nvSpPr>
        <p:spPr>
          <a:xfrm>
            <a:off x="742950" y="5191125"/>
            <a:ext cx="7524750" cy="476250"/>
          </a:xfrm>
          <a:prstGeom prst="rect">
            <a:avLst/>
          </a:prstGeom>
          <a:noFill/>
          <a:ln w="0">
            <a:noFill/>
          </a:ln>
        </p:spPr>
        <p:txBody>
          <a:bodyPr anchor="ctr">
            <a:normAutofit/>
          </a:bodyPr>
          <a:lstStyle/>
          <a:p>
            <a:pPr algn="l">
              <a:lnSpc>
                <a:spcPct val="100000"/>
              </a:lnSpc>
              <a:buNone/>
              <a:defRPr sz="2100" b="1">
                <a:solidFill>
                  <a:srgbClr val="181611"/>
                </a:solidFill>
                <a:latin typeface="Aptos"/>
                <a:ea typeface="Aptos"/>
                <a:cs typeface="Aptos"/>
              </a:defRPr>
            </a:pPr>
            <a:r>
              <a:rPr sz="2100" b="1">
                <a:solidFill>
                  <a:srgbClr val="181611"/>
                </a:solidFill>
                <a:latin typeface="Aptos"/>
                <a:ea typeface="Aptos"/>
                <a:cs typeface="Aptos"/>
              </a:rPr>
              <a:t>Publish only the group's best working version.</a:t>
            </a:r>
          </a:p>
        </p:txBody>
      </p:sp>
      <p:pic>
        <p:nvPicPr>
          <p:cNvPr id="29" name="Picture 28"/>
          <p:cNvPicPr>
            <a:picLocks noChangeAspect="1"/>
          </p:cNvPicPr>
          <p:nvPr/>
        </p:nvPicPr>
        <p:blipFill>
          <a:blip r:embed="rId3"/>
          <a:stretch/>
        </p:blipFill>
        <p:spPr>
          <a:xfrm>
            <a:off x="10032636" y="4533900"/>
            <a:ext cx="1251679" cy="1590675"/>
          </a:xfrm>
          <a:prstGeom prst="rect">
            <a:avLst/>
          </a:prstGeom>
        </p:spPr>
      </p:pic>
      <p:sp>
        <p:nvSpPr>
          <p:cNvPr id="15" name="Rectangle 14">
            <a:extLst>
              <a:ext uri="{FF2B5EF4-FFF2-40B4-BE49-F238E27FC236}">
                <a16:creationId xmlns:a16="http://schemas.microsoft.com/office/drawing/2014/main" id="{F293B57F-2CD4-4D7F-909F-5077FC8BE8B9}"/>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08</a:t>
            </a:r>
          </a:p>
        </p:txBody>
      </p:sp>
    </p:spTree>
    <p:extLst>
      <p:ext uri="{BB962C8B-B14F-4D97-AF65-F5344CB8AC3E}">
        <p14:creationId xmlns:p14="http://schemas.microsoft.com/office/powerpoint/2010/main" val="125650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40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3EB1AF-DD8C-4F9D-A5F5-F98D83E66C14}"/>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C69A4B"/>
                </a:solidFill>
                <a:latin typeface="Aptos"/>
                <a:ea typeface="Aptos"/>
                <a:cs typeface="Aptos"/>
              </a:defRPr>
            </a:pPr>
            <a:r>
              <a:rPr sz="1125" b="1">
                <a:solidFill>
                  <a:srgbClr val="C69A4B"/>
                </a:solidFill>
                <a:latin typeface="Aptos"/>
                <a:ea typeface="Aptos"/>
                <a:cs typeface="Aptos"/>
              </a:rPr>
              <a:t>GALLERY VOTE · 5 MINUTES</a:t>
            </a:r>
          </a:p>
        </p:txBody>
      </p:sp>
      <p:sp>
        <p:nvSpPr>
          <p:cNvPr id="2" name="Rectangle 1">
            <a:extLst>
              <a:ext uri="{FF2B5EF4-FFF2-40B4-BE49-F238E27FC236}">
                <a16:creationId xmlns:a16="http://schemas.microsoft.com/office/drawing/2014/main" id="{BAFFDE74-86E8-430C-BCA0-521A7F15365B}"/>
              </a:ext>
            </a:extLst>
          </p:cNvPr>
          <p:cNvSpPr>
            <a:spLocks noGrp="1"/>
          </p:cNvSpPr>
          <p:nvPr/>
        </p:nvSpPr>
        <p:spPr>
          <a:xfrm>
            <a:off x="628650" y="800100"/>
            <a:ext cx="9906000" cy="781050"/>
          </a:xfrm>
          <a:prstGeom prst="rect">
            <a:avLst/>
          </a:prstGeom>
          <a:noFill/>
          <a:ln w="0">
            <a:noFill/>
          </a:ln>
        </p:spPr>
        <p:txBody>
          <a:bodyPr anchor="ctr">
            <a:normAutofit/>
          </a:bodyPr>
          <a:lstStyle/>
          <a:p>
            <a:pPr algn="l">
              <a:lnSpc>
                <a:spcPct val="100000"/>
              </a:lnSpc>
              <a:buNone/>
              <a:defRPr sz="4050" b="1">
                <a:solidFill>
                  <a:srgbClr val="FFF8E8"/>
                </a:solidFill>
                <a:latin typeface="Aptos Display"/>
                <a:ea typeface="Aptos Display"/>
                <a:cs typeface="Aptos Display"/>
              </a:defRPr>
            </a:pPr>
            <a:r>
              <a:rPr sz="4050" b="1">
                <a:solidFill>
                  <a:srgbClr val="FFF8E8"/>
                </a:solidFill>
                <a:latin typeface="Aptos Display"/>
                <a:ea typeface="Aptos Display"/>
                <a:cs typeface="Aptos Display"/>
              </a:rPr>
              <a:t>Three tokens. Reward what works.</a:t>
            </a:r>
          </a:p>
        </p:txBody>
      </p:sp>
      <p:sp>
        <p:nvSpPr>
          <p:cNvPr id="3" name="Rectangle 2">
            <a:extLst>
              <a:ext uri="{FF2B5EF4-FFF2-40B4-BE49-F238E27FC236}">
                <a16:creationId xmlns:a16="http://schemas.microsoft.com/office/drawing/2014/main" id="{F4F4D989-C975-4ECB-B5B6-0D1452A75115}"/>
              </a:ext>
            </a:extLst>
          </p:cNvPr>
          <p:cNvSpPr>
            <a:spLocks noGrp="1"/>
          </p:cNvSpPr>
          <p:nvPr/>
        </p:nvSpPr>
        <p:spPr>
          <a:xfrm>
            <a:off x="666750" y="1600200"/>
            <a:ext cx="7810500" cy="400050"/>
          </a:xfrm>
          <a:prstGeom prst="rect">
            <a:avLst/>
          </a:prstGeom>
          <a:noFill/>
          <a:ln w="0">
            <a:noFill/>
          </a:ln>
        </p:spPr>
        <p:txBody>
          <a:bodyPr anchor="ctr">
            <a:normAutofit/>
          </a:bodyPr>
          <a:lstStyle/>
          <a:p>
            <a:pPr algn="l">
              <a:lnSpc>
                <a:spcPct val="100000"/>
              </a:lnSpc>
              <a:buNone/>
              <a:defRPr sz="1800" b="0">
                <a:solidFill>
                  <a:srgbClr val="CFC3AF"/>
                </a:solidFill>
                <a:latin typeface="Aptos"/>
                <a:ea typeface="Aptos"/>
                <a:cs typeface="Aptos"/>
              </a:defRPr>
            </a:pPr>
            <a:r>
              <a:rPr sz="1800" b="0">
                <a:solidFill>
                  <a:srgbClr val="CFC3AF"/>
                </a:solidFill>
                <a:latin typeface="Aptos"/>
                <a:ea typeface="Aptos"/>
                <a:cs typeface="Aptos"/>
              </a:rPr>
              <a:t>Open Class Gallery · play first · vote second</a:t>
            </a:r>
          </a:p>
        </p:txBody>
      </p:sp>
      <p:sp>
        <p:nvSpPr>
          <p:cNvPr id="4" name="Rectangle: Rounded Corners 3">
            <a:extLst>
              <a:ext uri="{FF2B5EF4-FFF2-40B4-BE49-F238E27FC236}">
                <a16:creationId xmlns:a16="http://schemas.microsoft.com/office/drawing/2014/main" id="{BC88438D-2E82-48FA-9A59-E7FA398AA299}"/>
              </a:ext>
            </a:extLst>
          </p:cNvPr>
          <p:cNvSpPr>
            <a:spLocks noGrp="1"/>
          </p:cNvSpPr>
          <p:nvPr/>
        </p:nvSpPr>
        <p:spPr>
          <a:xfrm>
            <a:off x="685800" y="2628900"/>
            <a:ext cx="3505200" cy="800100"/>
          </a:xfrm>
          <a:prstGeom prst="roundRect">
            <a:avLst>
              <a:gd name="adj" fmla="val 9524"/>
            </a:avLst>
          </a:prstGeom>
          <a:solidFill>
            <a:srgbClr val="252017"/>
          </a:solidFill>
          <a:ln w="19050">
            <a:solidFill>
              <a:srgbClr val="BE2F9F"/>
            </a:solidFill>
            <a:prstDash val="solid"/>
          </a:ln>
        </p:spPr>
        <p:txBody>
          <a:bodyPr/>
          <a:lstStyle/>
          <a:p>
            <a:endParaRPr lang="en-DE"/>
          </a:p>
        </p:txBody>
      </p:sp>
      <p:sp>
        <p:nvSpPr>
          <p:cNvPr id="5" name="Rectangle: Rounded Corners 4">
            <a:extLst>
              <a:ext uri="{FF2B5EF4-FFF2-40B4-BE49-F238E27FC236}">
                <a16:creationId xmlns:a16="http://schemas.microsoft.com/office/drawing/2014/main" id="{ED180F2C-C3E6-40A2-AB25-F85397FC9C7C}"/>
              </a:ext>
            </a:extLst>
          </p:cNvPr>
          <p:cNvSpPr>
            <a:spLocks noGrp="1"/>
          </p:cNvSpPr>
          <p:nvPr/>
        </p:nvSpPr>
        <p:spPr>
          <a:xfrm>
            <a:off x="685800" y="2628900"/>
            <a:ext cx="114300" cy="800100"/>
          </a:xfrm>
          <a:prstGeom prst="roundRect">
            <a:avLst>
              <a:gd name="adj" fmla="val 33333"/>
            </a:avLst>
          </a:prstGeom>
          <a:solidFill>
            <a:srgbClr val="BE2F9F"/>
          </a:solidFill>
          <a:ln w="0">
            <a:solidFill>
              <a:srgbClr val="BE2F9F"/>
            </a:solidFill>
            <a:prstDash val="solid"/>
          </a:ln>
        </p:spPr>
        <p:txBody>
          <a:bodyPr/>
          <a:lstStyle/>
          <a:p>
            <a:endParaRPr lang="en-DE"/>
          </a:p>
        </p:txBody>
      </p:sp>
      <p:sp>
        <p:nvSpPr>
          <p:cNvPr id="6" name="Rectangle 5">
            <a:extLst>
              <a:ext uri="{FF2B5EF4-FFF2-40B4-BE49-F238E27FC236}">
                <a16:creationId xmlns:a16="http://schemas.microsoft.com/office/drawing/2014/main" id="{23DB9C04-4D16-4C19-B083-0BD79A01E1F6}"/>
              </a:ext>
            </a:extLst>
          </p:cNvPr>
          <p:cNvSpPr>
            <a:spLocks noGrp="1"/>
          </p:cNvSpPr>
          <p:nvPr/>
        </p:nvSpPr>
        <p:spPr>
          <a:xfrm>
            <a:off x="1028700" y="2743200"/>
            <a:ext cx="2857500" cy="571500"/>
          </a:xfrm>
          <a:prstGeom prst="rect">
            <a:avLst/>
          </a:prstGeom>
          <a:noFill/>
          <a:ln w="0">
            <a:noFill/>
          </a:ln>
        </p:spPr>
        <p:txBody>
          <a:bodyPr anchor="ctr">
            <a:normAutofit/>
          </a:bodyPr>
          <a:lstStyle/>
          <a:p>
            <a:pPr algn="l">
              <a:lnSpc>
                <a:spcPct val="100000"/>
              </a:lnSpc>
              <a:buNone/>
              <a:defRPr sz="1800" b="1">
                <a:solidFill>
                  <a:srgbClr val="FFF8E8"/>
                </a:solidFill>
                <a:latin typeface="Aptos"/>
                <a:ea typeface="Aptos"/>
                <a:cs typeface="Aptos"/>
              </a:defRPr>
            </a:pPr>
            <a:r>
              <a:rPr sz="1800" b="1">
                <a:solidFill>
                  <a:srgbClr val="FFF8E8"/>
                </a:solidFill>
                <a:latin typeface="Aptos"/>
                <a:ea typeface="Aptos"/>
                <a:cs typeface="Aptos"/>
              </a:rPr>
              <a:t>MOST FUN</a:t>
            </a:r>
          </a:p>
        </p:txBody>
      </p:sp>
      <p:sp>
        <p:nvSpPr>
          <p:cNvPr id="7" name="Rectangle: Rounded Corners 6">
            <a:extLst>
              <a:ext uri="{FF2B5EF4-FFF2-40B4-BE49-F238E27FC236}">
                <a16:creationId xmlns:a16="http://schemas.microsoft.com/office/drawing/2014/main" id="{3782EA6C-8ACB-4986-8FCC-3DF114C3EE2B}"/>
              </a:ext>
            </a:extLst>
          </p:cNvPr>
          <p:cNvSpPr>
            <a:spLocks noGrp="1"/>
          </p:cNvSpPr>
          <p:nvPr/>
        </p:nvSpPr>
        <p:spPr>
          <a:xfrm>
            <a:off x="4591050" y="2628900"/>
            <a:ext cx="3505200" cy="800100"/>
          </a:xfrm>
          <a:prstGeom prst="roundRect">
            <a:avLst>
              <a:gd name="adj" fmla="val 9524"/>
            </a:avLst>
          </a:prstGeom>
          <a:solidFill>
            <a:srgbClr val="252017"/>
          </a:solidFill>
          <a:ln w="19050">
            <a:solidFill>
              <a:srgbClr val="2F6FED"/>
            </a:solidFill>
            <a:prstDash val="solid"/>
          </a:ln>
        </p:spPr>
        <p:txBody>
          <a:bodyPr/>
          <a:lstStyle/>
          <a:p>
            <a:endParaRPr lang="en-DE"/>
          </a:p>
        </p:txBody>
      </p:sp>
      <p:sp>
        <p:nvSpPr>
          <p:cNvPr id="8" name="Rectangle: Rounded Corners 7">
            <a:extLst>
              <a:ext uri="{FF2B5EF4-FFF2-40B4-BE49-F238E27FC236}">
                <a16:creationId xmlns:a16="http://schemas.microsoft.com/office/drawing/2014/main" id="{08D34FBD-9064-4BCD-8D53-432F69B405B8}"/>
              </a:ext>
            </a:extLst>
          </p:cNvPr>
          <p:cNvSpPr>
            <a:spLocks noGrp="1"/>
          </p:cNvSpPr>
          <p:nvPr/>
        </p:nvSpPr>
        <p:spPr>
          <a:xfrm>
            <a:off x="4591050" y="2628900"/>
            <a:ext cx="114300" cy="800100"/>
          </a:xfrm>
          <a:prstGeom prst="roundRect">
            <a:avLst>
              <a:gd name="adj" fmla="val 33333"/>
            </a:avLst>
          </a:prstGeom>
          <a:solidFill>
            <a:srgbClr val="2F6FED"/>
          </a:solidFill>
          <a:ln w="0">
            <a:solidFill>
              <a:srgbClr val="2F6FED"/>
            </a:solidFill>
            <a:prstDash val="solid"/>
          </a:ln>
        </p:spPr>
        <p:txBody>
          <a:bodyPr/>
          <a:lstStyle/>
          <a:p>
            <a:endParaRPr lang="en-DE"/>
          </a:p>
        </p:txBody>
      </p:sp>
      <p:sp>
        <p:nvSpPr>
          <p:cNvPr id="9" name="Rectangle 8">
            <a:extLst>
              <a:ext uri="{FF2B5EF4-FFF2-40B4-BE49-F238E27FC236}">
                <a16:creationId xmlns:a16="http://schemas.microsoft.com/office/drawing/2014/main" id="{0E4DA436-06AE-49EE-8820-6DDE336D053B}"/>
              </a:ext>
            </a:extLst>
          </p:cNvPr>
          <p:cNvSpPr>
            <a:spLocks noGrp="1"/>
          </p:cNvSpPr>
          <p:nvPr/>
        </p:nvSpPr>
        <p:spPr>
          <a:xfrm>
            <a:off x="4933950" y="2743200"/>
            <a:ext cx="2857500" cy="571500"/>
          </a:xfrm>
          <a:prstGeom prst="rect">
            <a:avLst/>
          </a:prstGeom>
          <a:noFill/>
          <a:ln w="0">
            <a:noFill/>
          </a:ln>
        </p:spPr>
        <p:txBody>
          <a:bodyPr anchor="ctr">
            <a:normAutofit/>
          </a:bodyPr>
          <a:lstStyle/>
          <a:p>
            <a:pPr algn="l">
              <a:lnSpc>
                <a:spcPct val="100000"/>
              </a:lnSpc>
              <a:buNone/>
              <a:defRPr sz="1800" b="1">
                <a:solidFill>
                  <a:srgbClr val="FFF8E8"/>
                </a:solidFill>
                <a:latin typeface="Aptos"/>
                <a:ea typeface="Aptos"/>
                <a:cs typeface="Aptos"/>
              </a:defRPr>
            </a:pPr>
            <a:r>
              <a:rPr sz="1800" b="1">
                <a:solidFill>
                  <a:srgbClr val="FFF8E8"/>
                </a:solidFill>
                <a:latin typeface="Aptos"/>
                <a:ea typeface="Aptos"/>
                <a:cs typeface="Aptos"/>
              </a:rPr>
              <a:t>BEST FEEL</a:t>
            </a:r>
          </a:p>
        </p:txBody>
      </p:sp>
      <p:sp>
        <p:nvSpPr>
          <p:cNvPr id="10" name="Rectangle: Rounded Corners 9">
            <a:extLst>
              <a:ext uri="{FF2B5EF4-FFF2-40B4-BE49-F238E27FC236}">
                <a16:creationId xmlns:a16="http://schemas.microsoft.com/office/drawing/2014/main" id="{35C1B6C8-770D-4DC0-A40A-0838B43773A3}"/>
              </a:ext>
            </a:extLst>
          </p:cNvPr>
          <p:cNvSpPr>
            <a:spLocks noGrp="1"/>
          </p:cNvSpPr>
          <p:nvPr/>
        </p:nvSpPr>
        <p:spPr>
          <a:xfrm>
            <a:off x="685800" y="3771900"/>
            <a:ext cx="3505200" cy="800100"/>
          </a:xfrm>
          <a:prstGeom prst="roundRect">
            <a:avLst>
              <a:gd name="adj" fmla="val 9524"/>
            </a:avLst>
          </a:prstGeom>
          <a:solidFill>
            <a:srgbClr val="252017"/>
          </a:solidFill>
          <a:ln w="19050">
            <a:solidFill>
              <a:srgbClr val="C69A4B"/>
            </a:solidFill>
            <a:prstDash val="solid"/>
          </a:ln>
        </p:spPr>
        <p:txBody>
          <a:bodyPr/>
          <a:lstStyle/>
          <a:p>
            <a:endParaRPr lang="en-DE"/>
          </a:p>
        </p:txBody>
      </p:sp>
      <p:sp>
        <p:nvSpPr>
          <p:cNvPr id="11" name="Rectangle: Rounded Corners 10">
            <a:extLst>
              <a:ext uri="{FF2B5EF4-FFF2-40B4-BE49-F238E27FC236}">
                <a16:creationId xmlns:a16="http://schemas.microsoft.com/office/drawing/2014/main" id="{3E3C3384-E995-4BDE-B537-BF5B77E847C2}"/>
              </a:ext>
            </a:extLst>
          </p:cNvPr>
          <p:cNvSpPr>
            <a:spLocks noGrp="1"/>
          </p:cNvSpPr>
          <p:nvPr/>
        </p:nvSpPr>
        <p:spPr>
          <a:xfrm>
            <a:off x="685800" y="3771900"/>
            <a:ext cx="114300" cy="800100"/>
          </a:xfrm>
          <a:prstGeom prst="roundRect">
            <a:avLst>
              <a:gd name="adj" fmla="val 33333"/>
            </a:avLst>
          </a:prstGeom>
          <a:solidFill>
            <a:srgbClr val="C69A4B"/>
          </a:solidFill>
          <a:ln w="0">
            <a:solidFill>
              <a:srgbClr val="C69A4B"/>
            </a:solidFill>
            <a:prstDash val="solid"/>
          </a:ln>
        </p:spPr>
        <p:txBody>
          <a:bodyPr/>
          <a:lstStyle/>
          <a:p>
            <a:endParaRPr lang="en-DE"/>
          </a:p>
        </p:txBody>
      </p:sp>
      <p:sp>
        <p:nvSpPr>
          <p:cNvPr id="12" name="Rectangle 11">
            <a:extLst>
              <a:ext uri="{FF2B5EF4-FFF2-40B4-BE49-F238E27FC236}">
                <a16:creationId xmlns:a16="http://schemas.microsoft.com/office/drawing/2014/main" id="{7FDC2151-6FE5-4619-963F-D31229D58287}"/>
              </a:ext>
            </a:extLst>
          </p:cNvPr>
          <p:cNvSpPr>
            <a:spLocks noGrp="1"/>
          </p:cNvSpPr>
          <p:nvPr/>
        </p:nvSpPr>
        <p:spPr>
          <a:xfrm>
            <a:off x="1028700" y="3886200"/>
            <a:ext cx="2857500" cy="571500"/>
          </a:xfrm>
          <a:prstGeom prst="rect">
            <a:avLst/>
          </a:prstGeom>
          <a:noFill/>
          <a:ln w="0">
            <a:noFill/>
          </a:ln>
        </p:spPr>
        <p:txBody>
          <a:bodyPr anchor="ctr">
            <a:normAutofit/>
          </a:bodyPr>
          <a:lstStyle/>
          <a:p>
            <a:pPr algn="l">
              <a:lnSpc>
                <a:spcPct val="100000"/>
              </a:lnSpc>
              <a:buNone/>
              <a:defRPr sz="1800" b="1">
                <a:solidFill>
                  <a:srgbClr val="FFF8E8"/>
                </a:solidFill>
                <a:latin typeface="Aptos"/>
                <a:ea typeface="Aptos"/>
                <a:cs typeface="Aptos"/>
              </a:defRPr>
            </a:pPr>
            <a:r>
              <a:rPr sz="1800" b="1">
                <a:solidFill>
                  <a:srgbClr val="FFF8E8"/>
                </a:solidFill>
                <a:latin typeface="Aptos"/>
                <a:ea typeface="Aptos"/>
                <a:cs typeface="Aptos"/>
              </a:rPr>
              <a:t>FUNNIEST</a:t>
            </a:r>
          </a:p>
        </p:txBody>
      </p:sp>
      <p:sp>
        <p:nvSpPr>
          <p:cNvPr id="13" name="Rectangle: Rounded Corners 12">
            <a:extLst>
              <a:ext uri="{FF2B5EF4-FFF2-40B4-BE49-F238E27FC236}">
                <a16:creationId xmlns:a16="http://schemas.microsoft.com/office/drawing/2014/main" id="{DA095F3A-FF6F-4D35-8137-5E03B73B0264}"/>
              </a:ext>
            </a:extLst>
          </p:cNvPr>
          <p:cNvSpPr>
            <a:spLocks noGrp="1"/>
          </p:cNvSpPr>
          <p:nvPr/>
        </p:nvSpPr>
        <p:spPr>
          <a:xfrm>
            <a:off x="4591050" y="3771900"/>
            <a:ext cx="3505200" cy="800100"/>
          </a:xfrm>
          <a:prstGeom prst="roundRect">
            <a:avLst>
              <a:gd name="adj" fmla="val 9524"/>
            </a:avLst>
          </a:prstGeom>
          <a:solidFill>
            <a:srgbClr val="252017"/>
          </a:solidFill>
          <a:ln w="19050">
            <a:solidFill>
              <a:srgbClr val="26845A"/>
            </a:solidFill>
            <a:prstDash val="solid"/>
          </a:ln>
        </p:spPr>
        <p:txBody>
          <a:bodyPr/>
          <a:lstStyle/>
          <a:p>
            <a:endParaRPr lang="en-DE"/>
          </a:p>
        </p:txBody>
      </p:sp>
      <p:sp>
        <p:nvSpPr>
          <p:cNvPr id="14" name="Rectangle: Rounded Corners 13">
            <a:extLst>
              <a:ext uri="{FF2B5EF4-FFF2-40B4-BE49-F238E27FC236}">
                <a16:creationId xmlns:a16="http://schemas.microsoft.com/office/drawing/2014/main" id="{98E7F5E8-BB3C-4525-A402-1CC6B395D390}"/>
              </a:ext>
            </a:extLst>
          </p:cNvPr>
          <p:cNvSpPr>
            <a:spLocks noGrp="1"/>
          </p:cNvSpPr>
          <p:nvPr/>
        </p:nvSpPr>
        <p:spPr>
          <a:xfrm>
            <a:off x="4591050" y="3771900"/>
            <a:ext cx="114300" cy="800100"/>
          </a:xfrm>
          <a:prstGeom prst="roundRect">
            <a:avLst>
              <a:gd name="adj" fmla="val 33333"/>
            </a:avLst>
          </a:prstGeom>
          <a:solidFill>
            <a:srgbClr val="26845A"/>
          </a:solidFill>
          <a:ln w="0">
            <a:solidFill>
              <a:srgbClr val="26845A"/>
            </a:solidFill>
            <a:prstDash val="solid"/>
          </a:ln>
        </p:spPr>
        <p:txBody>
          <a:bodyPr/>
          <a:lstStyle/>
          <a:p>
            <a:endParaRPr lang="en-DE"/>
          </a:p>
        </p:txBody>
      </p:sp>
      <p:sp>
        <p:nvSpPr>
          <p:cNvPr id="15" name="Rectangle 14">
            <a:extLst>
              <a:ext uri="{FF2B5EF4-FFF2-40B4-BE49-F238E27FC236}">
                <a16:creationId xmlns:a16="http://schemas.microsoft.com/office/drawing/2014/main" id="{4E676F29-D9D9-4FB0-A4AC-507ADA91C92C}"/>
              </a:ext>
            </a:extLst>
          </p:cNvPr>
          <p:cNvSpPr>
            <a:spLocks noGrp="1"/>
          </p:cNvSpPr>
          <p:nvPr/>
        </p:nvSpPr>
        <p:spPr>
          <a:xfrm>
            <a:off x="4933950" y="3886200"/>
            <a:ext cx="2857500" cy="571500"/>
          </a:xfrm>
          <a:prstGeom prst="rect">
            <a:avLst/>
          </a:prstGeom>
          <a:noFill/>
          <a:ln w="0">
            <a:noFill/>
          </a:ln>
        </p:spPr>
        <p:txBody>
          <a:bodyPr anchor="ctr">
            <a:normAutofit/>
          </a:bodyPr>
          <a:lstStyle/>
          <a:p>
            <a:pPr algn="l">
              <a:lnSpc>
                <a:spcPct val="100000"/>
              </a:lnSpc>
              <a:buNone/>
              <a:defRPr sz="1800" b="1">
                <a:solidFill>
                  <a:srgbClr val="FFF8E8"/>
                </a:solidFill>
                <a:latin typeface="Aptos"/>
                <a:ea typeface="Aptos"/>
                <a:cs typeface="Aptos"/>
              </a:defRPr>
            </a:pPr>
            <a:r>
              <a:rPr sz="1800" b="1">
                <a:solidFill>
                  <a:srgbClr val="FFF8E8"/>
                </a:solidFill>
                <a:latin typeface="Aptos"/>
                <a:ea typeface="Aptos"/>
                <a:cs typeface="Aptos"/>
              </a:rPr>
              <a:t>BEST REMIX*</a:t>
            </a:r>
          </a:p>
        </p:txBody>
      </p:sp>
      <p:sp>
        <p:nvSpPr>
          <p:cNvPr id="16" name="Rectangle 15">
            <a:extLst>
              <a:ext uri="{FF2B5EF4-FFF2-40B4-BE49-F238E27FC236}">
                <a16:creationId xmlns:a16="http://schemas.microsoft.com/office/drawing/2014/main" id="{8AA36FBC-91E0-4C7C-B6A3-95BC3863FCF8}"/>
              </a:ext>
            </a:extLst>
          </p:cNvPr>
          <p:cNvSpPr>
            <a:spLocks noGrp="1"/>
          </p:cNvSpPr>
          <p:nvPr/>
        </p:nvSpPr>
        <p:spPr>
          <a:xfrm>
            <a:off x="723900" y="5238750"/>
            <a:ext cx="2762250" cy="361950"/>
          </a:xfrm>
          <a:prstGeom prst="rect">
            <a:avLst/>
          </a:prstGeom>
          <a:noFill/>
          <a:ln w="0">
            <a:noFill/>
          </a:ln>
        </p:spPr>
        <p:txBody>
          <a:bodyPr anchor="ctr">
            <a:normAutofit/>
          </a:bodyPr>
          <a:lstStyle/>
          <a:p>
            <a:pPr algn="l">
              <a:lnSpc>
                <a:spcPct val="100000"/>
              </a:lnSpc>
              <a:buNone/>
              <a:defRPr sz="1500" b="1">
                <a:solidFill>
                  <a:srgbClr val="C69A4B"/>
                </a:solidFill>
                <a:latin typeface="Aptos"/>
                <a:ea typeface="Aptos"/>
                <a:cs typeface="Aptos"/>
              </a:defRPr>
            </a:pPr>
            <a:r>
              <a:rPr sz="1500" b="1">
                <a:solidFill>
                  <a:srgbClr val="C69A4B"/>
                </a:solidFill>
                <a:latin typeface="Aptos"/>
                <a:ea typeface="Aptos"/>
                <a:cs typeface="Aptos"/>
              </a:rPr>
              <a:t>1 vote per game</a:t>
            </a:r>
          </a:p>
        </p:txBody>
      </p:sp>
      <p:sp>
        <p:nvSpPr>
          <p:cNvPr id="17" name="Rectangle 16">
            <a:extLst>
              <a:ext uri="{FF2B5EF4-FFF2-40B4-BE49-F238E27FC236}">
                <a16:creationId xmlns:a16="http://schemas.microsoft.com/office/drawing/2014/main" id="{57C1E26E-967A-4965-AD18-2401B77A9D49}"/>
              </a:ext>
            </a:extLst>
          </p:cNvPr>
          <p:cNvSpPr>
            <a:spLocks noGrp="1"/>
          </p:cNvSpPr>
          <p:nvPr/>
        </p:nvSpPr>
        <p:spPr>
          <a:xfrm>
            <a:off x="4629150" y="5238750"/>
            <a:ext cx="3429000" cy="361950"/>
          </a:xfrm>
          <a:prstGeom prst="rect">
            <a:avLst/>
          </a:prstGeom>
          <a:noFill/>
          <a:ln w="0">
            <a:noFill/>
          </a:ln>
        </p:spPr>
        <p:txBody>
          <a:bodyPr anchor="ctr">
            <a:normAutofit/>
          </a:bodyPr>
          <a:lstStyle/>
          <a:p>
            <a:pPr algn="l">
              <a:lnSpc>
                <a:spcPct val="100000"/>
              </a:lnSpc>
              <a:buNone/>
              <a:defRPr sz="1350" b="0">
                <a:solidFill>
                  <a:srgbClr val="A99D89"/>
                </a:solidFill>
                <a:latin typeface="Aptos"/>
                <a:ea typeface="Aptos"/>
                <a:cs typeface="Aptos"/>
              </a:defRPr>
            </a:pPr>
            <a:r>
              <a:rPr sz="1350" b="0">
                <a:solidFill>
                  <a:srgbClr val="A99D89"/>
                </a:solidFill>
                <a:latin typeface="Aptos"/>
                <a:ea typeface="Aptos"/>
                <a:cs typeface="Aptos"/>
              </a:rPr>
              <a:t>*Only if remix is used today</a:t>
            </a:r>
          </a:p>
        </p:txBody>
      </p:sp>
      <p:sp>
        <p:nvSpPr>
          <p:cNvPr id="18" name="Rectangle: Rounded Corners 17">
            <a:extLst>
              <a:ext uri="{FF2B5EF4-FFF2-40B4-BE49-F238E27FC236}">
                <a16:creationId xmlns:a16="http://schemas.microsoft.com/office/drawing/2014/main" id="{B917E848-A0AA-4891-8E34-A43FD5AE7EE5}"/>
              </a:ext>
            </a:extLst>
          </p:cNvPr>
          <p:cNvSpPr>
            <a:spLocks noGrp="1"/>
          </p:cNvSpPr>
          <p:nvPr/>
        </p:nvSpPr>
        <p:spPr>
          <a:xfrm>
            <a:off x="8858250" y="2305050"/>
            <a:ext cx="2305050" cy="2286000"/>
          </a:xfrm>
          <a:prstGeom prst="roundRect">
            <a:avLst>
              <a:gd name="adj" fmla="val 3333"/>
            </a:avLst>
          </a:prstGeom>
          <a:solidFill>
            <a:srgbClr val="BE2F9F"/>
          </a:solidFill>
          <a:ln w="0">
            <a:solidFill>
              <a:srgbClr val="BE2F9F"/>
            </a:solidFill>
            <a:prstDash val="solid"/>
          </a:ln>
        </p:spPr>
        <p:txBody>
          <a:bodyPr/>
          <a:lstStyle/>
          <a:p>
            <a:endParaRPr lang="en-DE"/>
          </a:p>
        </p:txBody>
      </p:sp>
      <p:sp>
        <p:nvSpPr>
          <p:cNvPr id="19" name="Rectangle 18">
            <a:extLst>
              <a:ext uri="{FF2B5EF4-FFF2-40B4-BE49-F238E27FC236}">
                <a16:creationId xmlns:a16="http://schemas.microsoft.com/office/drawing/2014/main" id="{A6F85108-759B-4A48-AC93-54D42CD5BBE8}"/>
              </a:ext>
            </a:extLst>
          </p:cNvPr>
          <p:cNvSpPr>
            <a:spLocks noGrp="1"/>
          </p:cNvSpPr>
          <p:nvPr/>
        </p:nvSpPr>
        <p:spPr>
          <a:xfrm>
            <a:off x="8858250" y="2524125"/>
            <a:ext cx="2305050" cy="1123950"/>
          </a:xfrm>
          <a:prstGeom prst="rect">
            <a:avLst/>
          </a:prstGeom>
          <a:noFill/>
          <a:ln w="0">
            <a:noFill/>
          </a:ln>
        </p:spPr>
        <p:txBody>
          <a:bodyPr anchor="ctr">
            <a:normAutofit fontScale="94097"/>
          </a:bodyPr>
          <a:lstStyle/>
          <a:p>
            <a:pPr algn="ctr">
              <a:lnSpc>
                <a:spcPct val="100000"/>
              </a:lnSpc>
              <a:buNone/>
              <a:defRPr sz="7200" b="1">
                <a:solidFill>
                  <a:srgbClr val="FFFFFF"/>
                </a:solidFill>
                <a:latin typeface="Aptos Display"/>
                <a:ea typeface="Aptos Display"/>
                <a:cs typeface="Aptos Display"/>
              </a:defRPr>
            </a:pPr>
            <a:r>
              <a:rPr sz="7200" b="1">
                <a:solidFill>
                  <a:srgbClr val="FFFFFF"/>
                </a:solidFill>
                <a:latin typeface="Aptos Display"/>
                <a:ea typeface="Aptos Display"/>
                <a:cs typeface="Aptos Display"/>
              </a:rPr>
              <a:t>3</a:t>
            </a:r>
          </a:p>
        </p:txBody>
      </p:sp>
      <p:sp>
        <p:nvSpPr>
          <p:cNvPr id="20" name="Rectangle 19">
            <a:extLst>
              <a:ext uri="{FF2B5EF4-FFF2-40B4-BE49-F238E27FC236}">
                <a16:creationId xmlns:a16="http://schemas.microsoft.com/office/drawing/2014/main" id="{873B56B1-05FF-4CEE-AA89-16BEB9FCE300}"/>
              </a:ext>
            </a:extLst>
          </p:cNvPr>
          <p:cNvSpPr>
            <a:spLocks noGrp="1"/>
          </p:cNvSpPr>
          <p:nvPr/>
        </p:nvSpPr>
        <p:spPr>
          <a:xfrm>
            <a:off x="8858250" y="3667125"/>
            <a:ext cx="2305050" cy="476250"/>
          </a:xfrm>
          <a:prstGeom prst="rect">
            <a:avLst/>
          </a:prstGeom>
          <a:noFill/>
          <a:ln w="0">
            <a:noFill/>
          </a:ln>
        </p:spPr>
        <p:txBody>
          <a:bodyPr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TOKENS</a:t>
            </a:r>
          </a:p>
        </p:txBody>
      </p:sp>
      <p:sp>
        <p:nvSpPr>
          <p:cNvPr id="21" name="Rectangle 20">
            <a:extLst>
              <a:ext uri="{FF2B5EF4-FFF2-40B4-BE49-F238E27FC236}">
                <a16:creationId xmlns:a16="http://schemas.microsoft.com/office/drawing/2014/main" id="{38603D37-68EC-4121-AFC9-A32613CF57FE}"/>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A99D89"/>
                </a:solidFill>
                <a:latin typeface="Aptos"/>
                <a:ea typeface="Aptos"/>
                <a:cs typeface="Aptos"/>
              </a:defRPr>
            </a:pPr>
            <a:r>
              <a:rPr sz="975" b="1">
                <a:solidFill>
                  <a:srgbClr val="A99D89"/>
                </a:solidFill>
                <a:latin typeface="Aptos"/>
                <a:ea typeface="Aptos"/>
                <a:cs typeface="Aptos"/>
              </a:rPr>
              <a:t>09</a:t>
            </a:r>
          </a:p>
        </p:txBody>
      </p:sp>
    </p:spTree>
    <p:extLst>
      <p:ext uri="{BB962C8B-B14F-4D97-AF65-F5344CB8AC3E}">
        <p14:creationId xmlns:p14="http://schemas.microsoft.com/office/powerpoint/2010/main" val="1208962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BF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4557FF9-14EF-4551-AD77-B041E72B90C8}"/>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DEBRIEF · 2 MINUTES</a:t>
            </a:r>
          </a:p>
        </p:txBody>
      </p:sp>
      <p:sp>
        <p:nvSpPr>
          <p:cNvPr id="2" name="Rectangle 1">
            <a:extLst>
              <a:ext uri="{FF2B5EF4-FFF2-40B4-BE49-F238E27FC236}">
                <a16:creationId xmlns:a16="http://schemas.microsoft.com/office/drawing/2014/main" id="{B0703AB0-64E9-44F2-BC9B-A044DBB2CFD7}"/>
              </a:ext>
            </a:extLst>
          </p:cNvPr>
          <p:cNvSpPr>
            <a:spLocks noGrp="1"/>
          </p:cNvSpPr>
          <p:nvPr/>
        </p:nvSpPr>
        <p:spPr>
          <a:xfrm>
            <a:off x="628650" y="781050"/>
            <a:ext cx="9525000" cy="800100"/>
          </a:xfrm>
          <a:prstGeom prst="rect">
            <a:avLst/>
          </a:prstGeom>
          <a:noFill/>
          <a:ln w="0">
            <a:noFill/>
          </a:ln>
        </p:spPr>
        <p:txBody>
          <a:bodyPr anchor="ctr">
            <a:normAutofit/>
          </a:bodyPr>
          <a:lstStyle/>
          <a:p>
            <a:pPr algn="l">
              <a:lnSpc>
                <a:spcPct val="100000"/>
              </a:lnSpc>
              <a:buNone/>
              <a:defRPr sz="4350" b="1">
                <a:solidFill>
                  <a:srgbClr val="181611"/>
                </a:solidFill>
                <a:latin typeface="Aptos Display"/>
                <a:ea typeface="Aptos Display"/>
                <a:cs typeface="Aptos Display"/>
              </a:defRPr>
            </a:pPr>
            <a:r>
              <a:rPr sz="4350" b="1">
                <a:solidFill>
                  <a:srgbClr val="181611"/>
                </a:solidFill>
                <a:latin typeface="Aptos Display"/>
                <a:ea typeface="Aptos Display"/>
                <a:cs typeface="Aptos Display"/>
              </a:rPr>
              <a:t>You just did design thinking.</a:t>
            </a:r>
          </a:p>
        </p:txBody>
      </p:sp>
      <p:sp>
        <p:nvSpPr>
          <p:cNvPr id="3" name="Rectangle: Rounded Corners 2">
            <a:extLst>
              <a:ext uri="{FF2B5EF4-FFF2-40B4-BE49-F238E27FC236}">
                <a16:creationId xmlns:a16="http://schemas.microsoft.com/office/drawing/2014/main" id="{2C3998A9-29A8-43C9-A883-F4A0F796802B}"/>
              </a:ext>
            </a:extLst>
          </p:cNvPr>
          <p:cNvSpPr>
            <a:spLocks noGrp="1"/>
          </p:cNvSpPr>
          <p:nvPr/>
        </p:nvSpPr>
        <p:spPr>
          <a:xfrm>
            <a:off x="571500" y="2447925"/>
            <a:ext cx="2324100" cy="1581150"/>
          </a:xfrm>
          <a:prstGeom prst="roundRect">
            <a:avLst>
              <a:gd name="adj" fmla="val 4819"/>
            </a:avLst>
          </a:prstGeom>
          <a:solidFill>
            <a:srgbClr val="FFFFFF"/>
          </a:solidFill>
          <a:ln w="19050">
            <a:solidFill>
              <a:srgbClr val="2F6FED"/>
            </a:solidFill>
            <a:prstDash val="solid"/>
          </a:ln>
        </p:spPr>
        <p:txBody>
          <a:bodyPr/>
          <a:lstStyle/>
          <a:p>
            <a:endParaRPr lang="en-DE"/>
          </a:p>
        </p:txBody>
      </p:sp>
      <p:sp>
        <p:nvSpPr>
          <p:cNvPr id="4" name="Rectangle 3">
            <a:extLst>
              <a:ext uri="{FF2B5EF4-FFF2-40B4-BE49-F238E27FC236}">
                <a16:creationId xmlns:a16="http://schemas.microsoft.com/office/drawing/2014/main" id="{C1265681-2E13-426C-A8F4-1A19C8973DB5}"/>
              </a:ext>
            </a:extLst>
          </p:cNvPr>
          <p:cNvSpPr>
            <a:spLocks noGrp="1"/>
          </p:cNvSpPr>
          <p:nvPr/>
        </p:nvSpPr>
        <p:spPr>
          <a:xfrm>
            <a:off x="742950" y="2571750"/>
            <a:ext cx="533400" cy="247650"/>
          </a:xfrm>
          <a:prstGeom prst="rect">
            <a:avLst/>
          </a:prstGeom>
          <a:noFill/>
          <a:ln w="0">
            <a:noFill/>
          </a:ln>
        </p:spPr>
        <p:txBody>
          <a:bodyPr anchor="ctr">
            <a:normAutofit fontScale="97619"/>
          </a:bodyPr>
          <a:lstStyle/>
          <a:p>
            <a:pPr algn="l">
              <a:lnSpc>
                <a:spcPct val="100000"/>
              </a:lnSpc>
              <a:buNone/>
              <a:defRPr sz="1050" b="1">
                <a:solidFill>
                  <a:srgbClr val="2F6FED"/>
                </a:solidFill>
                <a:latin typeface="Aptos"/>
                <a:ea typeface="Aptos"/>
                <a:cs typeface="Aptos"/>
              </a:defRPr>
            </a:pPr>
            <a:r>
              <a:rPr sz="1050" b="1">
                <a:solidFill>
                  <a:srgbClr val="2F6FED"/>
                </a:solidFill>
                <a:latin typeface="Aptos"/>
                <a:ea typeface="Aptos"/>
                <a:cs typeface="Aptos"/>
              </a:rPr>
              <a:t>01</a:t>
            </a:r>
          </a:p>
        </p:txBody>
      </p:sp>
      <p:sp>
        <p:nvSpPr>
          <p:cNvPr id="5" name="Rectangle 4">
            <a:extLst>
              <a:ext uri="{FF2B5EF4-FFF2-40B4-BE49-F238E27FC236}">
                <a16:creationId xmlns:a16="http://schemas.microsoft.com/office/drawing/2014/main" id="{01352409-47DC-47E3-A14B-23CC3C581B4A}"/>
              </a:ext>
            </a:extLst>
          </p:cNvPr>
          <p:cNvSpPr>
            <a:spLocks noGrp="1"/>
          </p:cNvSpPr>
          <p:nvPr/>
        </p:nvSpPr>
        <p:spPr>
          <a:xfrm>
            <a:off x="742950" y="2914650"/>
            <a:ext cx="1981200" cy="400050"/>
          </a:xfrm>
          <a:prstGeom prst="rect">
            <a:avLst/>
          </a:prstGeom>
          <a:noFill/>
          <a:ln w="0">
            <a:noFill/>
          </a:ln>
        </p:spPr>
        <p:txBody>
          <a:bodyPr anchor="ctr">
            <a:normAutofit/>
          </a:bodyPr>
          <a:lstStyle/>
          <a:p>
            <a:pPr algn="l">
              <a:lnSpc>
                <a:spcPct val="100000"/>
              </a:lnSpc>
              <a:buNone/>
              <a:defRPr sz="1650" b="1">
                <a:solidFill>
                  <a:srgbClr val="2F6FED"/>
                </a:solidFill>
                <a:latin typeface="Aptos"/>
                <a:ea typeface="Aptos"/>
                <a:cs typeface="Aptos"/>
              </a:defRPr>
            </a:pPr>
            <a:r>
              <a:rPr sz="1650" b="1">
                <a:solidFill>
                  <a:srgbClr val="2F6FED"/>
                </a:solidFill>
                <a:latin typeface="Aptos"/>
                <a:ea typeface="Aptos"/>
                <a:cs typeface="Aptos"/>
              </a:rPr>
              <a:t>UNDERSTAND</a:t>
            </a:r>
          </a:p>
        </p:txBody>
      </p:sp>
      <p:sp>
        <p:nvSpPr>
          <p:cNvPr id="6" name="Rectangle 5">
            <a:extLst>
              <a:ext uri="{FF2B5EF4-FFF2-40B4-BE49-F238E27FC236}">
                <a16:creationId xmlns:a16="http://schemas.microsoft.com/office/drawing/2014/main" id="{A2C126BE-C5B9-4F5E-966A-0E6A5BE0EF09}"/>
              </a:ext>
            </a:extLst>
          </p:cNvPr>
          <p:cNvSpPr>
            <a:spLocks noGrp="1"/>
          </p:cNvSpPr>
          <p:nvPr/>
        </p:nvSpPr>
        <p:spPr>
          <a:xfrm>
            <a:off x="742950" y="3371850"/>
            <a:ext cx="1981200" cy="4000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a person</a:t>
            </a:r>
          </a:p>
        </p:txBody>
      </p:sp>
      <p:sp>
        <p:nvSpPr>
          <p:cNvPr id="7" name="Rectangle 6">
            <a:extLst>
              <a:ext uri="{FF2B5EF4-FFF2-40B4-BE49-F238E27FC236}">
                <a16:creationId xmlns:a16="http://schemas.microsoft.com/office/drawing/2014/main" id="{1A1C35E3-65A1-4F87-99E2-DCD6764E2D01}"/>
              </a:ext>
            </a:extLst>
          </p:cNvPr>
          <p:cNvSpPr>
            <a:spLocks noGrp="1"/>
          </p:cNvSpPr>
          <p:nvPr/>
        </p:nvSpPr>
        <p:spPr>
          <a:xfrm>
            <a:off x="2895600" y="2971800"/>
            <a:ext cx="457200" cy="457200"/>
          </a:xfrm>
          <a:prstGeom prst="rect">
            <a:avLst/>
          </a:prstGeom>
          <a:noFill/>
          <a:ln w="0">
            <a:noFill/>
          </a:ln>
        </p:spPr>
        <p:txBody>
          <a:bodyPr anchor="ctr">
            <a:normAutofit/>
          </a:bodyPr>
          <a:lstStyle/>
          <a:p>
            <a:pPr algn="ctr">
              <a:lnSpc>
                <a:spcPct val="100000"/>
              </a:lnSpc>
              <a:buNone/>
              <a:defRPr sz="2325" b="1">
                <a:solidFill>
                  <a:srgbClr val="706A5D"/>
                </a:solidFill>
                <a:latin typeface="Aptos Display"/>
                <a:ea typeface="Aptos Display"/>
                <a:cs typeface="Aptos Display"/>
              </a:defRPr>
            </a:pPr>
            <a:r>
              <a:rPr sz="2325" b="1">
                <a:solidFill>
                  <a:srgbClr val="706A5D"/>
                </a:solidFill>
                <a:latin typeface="Aptos Display"/>
                <a:ea typeface="Aptos Display"/>
                <a:cs typeface="Aptos Display"/>
              </a:rPr>
              <a:t>→</a:t>
            </a:r>
          </a:p>
        </p:txBody>
      </p:sp>
      <p:sp>
        <p:nvSpPr>
          <p:cNvPr id="8" name="Rectangle: Rounded Corners 7">
            <a:extLst>
              <a:ext uri="{FF2B5EF4-FFF2-40B4-BE49-F238E27FC236}">
                <a16:creationId xmlns:a16="http://schemas.microsoft.com/office/drawing/2014/main" id="{67C0E584-CAC1-4377-98D6-2B758FBEC0C9}"/>
              </a:ext>
            </a:extLst>
          </p:cNvPr>
          <p:cNvSpPr>
            <a:spLocks noGrp="1"/>
          </p:cNvSpPr>
          <p:nvPr/>
        </p:nvSpPr>
        <p:spPr>
          <a:xfrm>
            <a:off x="3352800" y="2447925"/>
            <a:ext cx="2324100" cy="1581150"/>
          </a:xfrm>
          <a:prstGeom prst="roundRect">
            <a:avLst>
              <a:gd name="adj" fmla="val 4819"/>
            </a:avLst>
          </a:prstGeom>
          <a:solidFill>
            <a:srgbClr val="FFFFFF"/>
          </a:solidFill>
          <a:ln w="19050">
            <a:solidFill>
              <a:srgbClr val="BE2F9F"/>
            </a:solidFill>
            <a:prstDash val="solid"/>
          </a:ln>
        </p:spPr>
        <p:txBody>
          <a:bodyPr/>
          <a:lstStyle/>
          <a:p>
            <a:endParaRPr lang="en-DE"/>
          </a:p>
        </p:txBody>
      </p:sp>
      <p:sp>
        <p:nvSpPr>
          <p:cNvPr id="9" name="Rectangle 8">
            <a:extLst>
              <a:ext uri="{FF2B5EF4-FFF2-40B4-BE49-F238E27FC236}">
                <a16:creationId xmlns:a16="http://schemas.microsoft.com/office/drawing/2014/main" id="{252DCE7C-D042-4CBA-933B-4539D57F4CCB}"/>
              </a:ext>
            </a:extLst>
          </p:cNvPr>
          <p:cNvSpPr>
            <a:spLocks noGrp="1"/>
          </p:cNvSpPr>
          <p:nvPr/>
        </p:nvSpPr>
        <p:spPr>
          <a:xfrm>
            <a:off x="3524250" y="2571750"/>
            <a:ext cx="533400" cy="247650"/>
          </a:xfrm>
          <a:prstGeom prst="rect">
            <a:avLst/>
          </a:prstGeom>
          <a:noFill/>
          <a:ln w="0">
            <a:noFill/>
          </a:ln>
        </p:spPr>
        <p:txBody>
          <a:bodyPr anchor="ctr">
            <a:normAutofit fontScale="97619"/>
          </a:bodyPr>
          <a:lstStyle/>
          <a:p>
            <a:pPr algn="l">
              <a:lnSpc>
                <a:spcPct val="100000"/>
              </a:lnSpc>
              <a:buNone/>
              <a:defRPr sz="1050" b="1">
                <a:solidFill>
                  <a:srgbClr val="BE2F9F"/>
                </a:solidFill>
                <a:latin typeface="Aptos"/>
                <a:ea typeface="Aptos"/>
                <a:cs typeface="Aptos"/>
              </a:defRPr>
            </a:pPr>
            <a:r>
              <a:rPr sz="1050" b="1">
                <a:solidFill>
                  <a:srgbClr val="BE2F9F"/>
                </a:solidFill>
                <a:latin typeface="Aptos"/>
                <a:ea typeface="Aptos"/>
                <a:cs typeface="Aptos"/>
              </a:rPr>
              <a:t>02</a:t>
            </a:r>
          </a:p>
        </p:txBody>
      </p:sp>
      <p:sp>
        <p:nvSpPr>
          <p:cNvPr id="10" name="Rectangle 9">
            <a:extLst>
              <a:ext uri="{FF2B5EF4-FFF2-40B4-BE49-F238E27FC236}">
                <a16:creationId xmlns:a16="http://schemas.microsoft.com/office/drawing/2014/main" id="{54340F90-44E3-41C1-8205-C3B7B8FF38BB}"/>
              </a:ext>
            </a:extLst>
          </p:cNvPr>
          <p:cNvSpPr>
            <a:spLocks noGrp="1"/>
          </p:cNvSpPr>
          <p:nvPr/>
        </p:nvSpPr>
        <p:spPr>
          <a:xfrm>
            <a:off x="3524250" y="2914650"/>
            <a:ext cx="1981200" cy="400050"/>
          </a:xfrm>
          <a:prstGeom prst="rect">
            <a:avLst/>
          </a:prstGeom>
          <a:noFill/>
          <a:ln w="0">
            <a:noFill/>
          </a:ln>
        </p:spPr>
        <p:txBody>
          <a:bodyPr anchor="ctr">
            <a:normAutofit/>
          </a:bodyPr>
          <a:lstStyle/>
          <a:p>
            <a:pPr algn="l">
              <a:lnSpc>
                <a:spcPct val="100000"/>
              </a:lnSpc>
              <a:buNone/>
              <a:defRPr sz="1650" b="1">
                <a:solidFill>
                  <a:srgbClr val="BE2F9F"/>
                </a:solidFill>
                <a:latin typeface="Aptos"/>
                <a:ea typeface="Aptos"/>
                <a:cs typeface="Aptos"/>
              </a:defRPr>
            </a:pPr>
            <a:r>
              <a:rPr sz="1650" b="1">
                <a:solidFill>
                  <a:srgbClr val="BE2F9F"/>
                </a:solidFill>
                <a:latin typeface="Aptos"/>
                <a:ea typeface="Aptos"/>
                <a:cs typeface="Aptos"/>
              </a:rPr>
              <a:t>MAKE</a:t>
            </a:r>
          </a:p>
        </p:txBody>
      </p:sp>
      <p:sp>
        <p:nvSpPr>
          <p:cNvPr id="11" name="Rectangle 10">
            <a:extLst>
              <a:ext uri="{FF2B5EF4-FFF2-40B4-BE49-F238E27FC236}">
                <a16:creationId xmlns:a16="http://schemas.microsoft.com/office/drawing/2014/main" id="{41CE19F1-5809-49B4-92EF-45FE48D0EF0F}"/>
              </a:ext>
            </a:extLst>
          </p:cNvPr>
          <p:cNvSpPr>
            <a:spLocks noGrp="1"/>
          </p:cNvSpPr>
          <p:nvPr/>
        </p:nvSpPr>
        <p:spPr>
          <a:xfrm>
            <a:off x="3524250" y="3371850"/>
            <a:ext cx="1981200" cy="4000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a prototype</a:t>
            </a:r>
          </a:p>
        </p:txBody>
      </p:sp>
      <p:sp>
        <p:nvSpPr>
          <p:cNvPr id="12" name="Rectangle 11">
            <a:extLst>
              <a:ext uri="{FF2B5EF4-FFF2-40B4-BE49-F238E27FC236}">
                <a16:creationId xmlns:a16="http://schemas.microsoft.com/office/drawing/2014/main" id="{BE07F88C-5CFE-4253-8FCF-94223F74DFC6}"/>
              </a:ext>
            </a:extLst>
          </p:cNvPr>
          <p:cNvSpPr>
            <a:spLocks noGrp="1"/>
          </p:cNvSpPr>
          <p:nvPr/>
        </p:nvSpPr>
        <p:spPr>
          <a:xfrm>
            <a:off x="5676900" y="2971800"/>
            <a:ext cx="457200" cy="457200"/>
          </a:xfrm>
          <a:prstGeom prst="rect">
            <a:avLst/>
          </a:prstGeom>
          <a:noFill/>
          <a:ln w="0">
            <a:noFill/>
          </a:ln>
        </p:spPr>
        <p:txBody>
          <a:bodyPr anchor="ctr">
            <a:normAutofit/>
          </a:bodyPr>
          <a:lstStyle/>
          <a:p>
            <a:pPr algn="ctr">
              <a:lnSpc>
                <a:spcPct val="100000"/>
              </a:lnSpc>
              <a:buNone/>
              <a:defRPr sz="2325" b="1">
                <a:solidFill>
                  <a:srgbClr val="706A5D"/>
                </a:solidFill>
                <a:latin typeface="Aptos Display"/>
                <a:ea typeface="Aptos Display"/>
                <a:cs typeface="Aptos Display"/>
              </a:defRPr>
            </a:pPr>
            <a:r>
              <a:rPr sz="2325" b="1">
                <a:solidFill>
                  <a:srgbClr val="706A5D"/>
                </a:solidFill>
                <a:latin typeface="Aptos Display"/>
                <a:ea typeface="Aptos Display"/>
                <a:cs typeface="Aptos Display"/>
              </a:rPr>
              <a:t>→</a:t>
            </a:r>
          </a:p>
        </p:txBody>
      </p:sp>
      <p:sp>
        <p:nvSpPr>
          <p:cNvPr id="13" name="Rectangle: Rounded Corners 12">
            <a:extLst>
              <a:ext uri="{FF2B5EF4-FFF2-40B4-BE49-F238E27FC236}">
                <a16:creationId xmlns:a16="http://schemas.microsoft.com/office/drawing/2014/main" id="{78408538-4BF7-4FB2-8F2D-A4E5C3E33FC3}"/>
              </a:ext>
            </a:extLst>
          </p:cNvPr>
          <p:cNvSpPr>
            <a:spLocks noGrp="1"/>
          </p:cNvSpPr>
          <p:nvPr/>
        </p:nvSpPr>
        <p:spPr>
          <a:xfrm>
            <a:off x="6134100" y="2447925"/>
            <a:ext cx="2324100" cy="1581150"/>
          </a:xfrm>
          <a:prstGeom prst="roundRect">
            <a:avLst>
              <a:gd name="adj" fmla="val 4819"/>
            </a:avLst>
          </a:prstGeom>
          <a:solidFill>
            <a:srgbClr val="FFFFFF"/>
          </a:solidFill>
          <a:ln w="19050">
            <a:solidFill>
              <a:srgbClr val="C69A4B"/>
            </a:solidFill>
            <a:prstDash val="solid"/>
          </a:ln>
        </p:spPr>
        <p:txBody>
          <a:bodyPr/>
          <a:lstStyle/>
          <a:p>
            <a:endParaRPr lang="en-DE"/>
          </a:p>
        </p:txBody>
      </p:sp>
      <p:sp>
        <p:nvSpPr>
          <p:cNvPr id="14" name="Rectangle 13">
            <a:extLst>
              <a:ext uri="{FF2B5EF4-FFF2-40B4-BE49-F238E27FC236}">
                <a16:creationId xmlns:a16="http://schemas.microsoft.com/office/drawing/2014/main" id="{E94B3E1D-DC33-4728-9236-34EB6568F490}"/>
              </a:ext>
            </a:extLst>
          </p:cNvPr>
          <p:cNvSpPr>
            <a:spLocks noGrp="1"/>
          </p:cNvSpPr>
          <p:nvPr/>
        </p:nvSpPr>
        <p:spPr>
          <a:xfrm>
            <a:off x="6305550" y="2571750"/>
            <a:ext cx="533400" cy="247650"/>
          </a:xfrm>
          <a:prstGeom prst="rect">
            <a:avLst/>
          </a:prstGeom>
          <a:noFill/>
          <a:ln w="0">
            <a:noFill/>
          </a:ln>
        </p:spPr>
        <p:txBody>
          <a:bodyPr anchor="ctr">
            <a:normAutofit fontScale="97619"/>
          </a:bodyPr>
          <a:lstStyle/>
          <a:p>
            <a:pPr algn="l">
              <a:lnSpc>
                <a:spcPct val="100000"/>
              </a:lnSpc>
              <a:buNone/>
              <a:defRPr sz="1050" b="1">
                <a:solidFill>
                  <a:srgbClr val="C69A4B"/>
                </a:solidFill>
                <a:latin typeface="Aptos"/>
                <a:ea typeface="Aptos"/>
                <a:cs typeface="Aptos"/>
              </a:defRPr>
            </a:pPr>
            <a:r>
              <a:rPr sz="1050" b="1">
                <a:solidFill>
                  <a:srgbClr val="C69A4B"/>
                </a:solidFill>
                <a:latin typeface="Aptos"/>
                <a:ea typeface="Aptos"/>
                <a:cs typeface="Aptos"/>
              </a:rPr>
              <a:t>03</a:t>
            </a:r>
          </a:p>
        </p:txBody>
      </p:sp>
      <p:sp>
        <p:nvSpPr>
          <p:cNvPr id="15" name="Rectangle 14">
            <a:extLst>
              <a:ext uri="{FF2B5EF4-FFF2-40B4-BE49-F238E27FC236}">
                <a16:creationId xmlns:a16="http://schemas.microsoft.com/office/drawing/2014/main" id="{90A078FE-294A-4D85-AE9E-028F0B7288BD}"/>
              </a:ext>
            </a:extLst>
          </p:cNvPr>
          <p:cNvSpPr>
            <a:spLocks noGrp="1"/>
          </p:cNvSpPr>
          <p:nvPr/>
        </p:nvSpPr>
        <p:spPr>
          <a:xfrm>
            <a:off x="6305550" y="2914650"/>
            <a:ext cx="1981200" cy="400050"/>
          </a:xfrm>
          <a:prstGeom prst="rect">
            <a:avLst/>
          </a:prstGeom>
          <a:noFill/>
          <a:ln w="0">
            <a:noFill/>
          </a:ln>
        </p:spPr>
        <p:txBody>
          <a:bodyPr anchor="ctr">
            <a:normAutofit/>
          </a:bodyPr>
          <a:lstStyle/>
          <a:p>
            <a:pPr algn="l">
              <a:lnSpc>
                <a:spcPct val="100000"/>
              </a:lnSpc>
              <a:buNone/>
              <a:defRPr sz="1650" b="1">
                <a:solidFill>
                  <a:srgbClr val="C69A4B"/>
                </a:solidFill>
                <a:latin typeface="Aptos"/>
                <a:ea typeface="Aptos"/>
                <a:cs typeface="Aptos"/>
              </a:defRPr>
            </a:pPr>
            <a:r>
              <a:rPr sz="1650" b="1">
                <a:solidFill>
                  <a:srgbClr val="C69A4B"/>
                </a:solidFill>
                <a:latin typeface="Aptos"/>
                <a:ea typeface="Aptos"/>
                <a:cs typeface="Aptos"/>
              </a:rPr>
              <a:t>OBSERVE</a:t>
            </a:r>
          </a:p>
        </p:txBody>
      </p:sp>
      <p:sp>
        <p:nvSpPr>
          <p:cNvPr id="16" name="Rectangle 15">
            <a:extLst>
              <a:ext uri="{FF2B5EF4-FFF2-40B4-BE49-F238E27FC236}">
                <a16:creationId xmlns:a16="http://schemas.microsoft.com/office/drawing/2014/main" id="{933FFAAD-CF38-4769-8BD7-6CAB09C60338}"/>
              </a:ext>
            </a:extLst>
          </p:cNvPr>
          <p:cNvSpPr>
            <a:spLocks noGrp="1"/>
          </p:cNvSpPr>
          <p:nvPr/>
        </p:nvSpPr>
        <p:spPr>
          <a:xfrm>
            <a:off x="6305550" y="3371850"/>
            <a:ext cx="1981200" cy="4000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real behaviour</a:t>
            </a:r>
          </a:p>
        </p:txBody>
      </p:sp>
      <p:sp>
        <p:nvSpPr>
          <p:cNvPr id="17" name="Rectangle 16">
            <a:extLst>
              <a:ext uri="{FF2B5EF4-FFF2-40B4-BE49-F238E27FC236}">
                <a16:creationId xmlns:a16="http://schemas.microsoft.com/office/drawing/2014/main" id="{8C76D7C9-6814-4DB9-95CD-EED0C1A559DD}"/>
              </a:ext>
            </a:extLst>
          </p:cNvPr>
          <p:cNvSpPr>
            <a:spLocks noGrp="1"/>
          </p:cNvSpPr>
          <p:nvPr/>
        </p:nvSpPr>
        <p:spPr>
          <a:xfrm>
            <a:off x="8458200" y="2971800"/>
            <a:ext cx="457200" cy="457200"/>
          </a:xfrm>
          <a:prstGeom prst="rect">
            <a:avLst/>
          </a:prstGeom>
          <a:noFill/>
          <a:ln w="0">
            <a:noFill/>
          </a:ln>
        </p:spPr>
        <p:txBody>
          <a:bodyPr anchor="ctr">
            <a:normAutofit/>
          </a:bodyPr>
          <a:lstStyle/>
          <a:p>
            <a:pPr algn="ctr">
              <a:lnSpc>
                <a:spcPct val="100000"/>
              </a:lnSpc>
              <a:buNone/>
              <a:defRPr sz="2325" b="1">
                <a:solidFill>
                  <a:srgbClr val="706A5D"/>
                </a:solidFill>
                <a:latin typeface="Aptos Display"/>
                <a:ea typeface="Aptos Display"/>
                <a:cs typeface="Aptos Display"/>
              </a:defRPr>
            </a:pPr>
            <a:r>
              <a:rPr sz="2325" b="1">
                <a:solidFill>
                  <a:srgbClr val="706A5D"/>
                </a:solidFill>
                <a:latin typeface="Aptos Display"/>
                <a:ea typeface="Aptos Display"/>
                <a:cs typeface="Aptos Display"/>
              </a:rPr>
              <a:t>→</a:t>
            </a:r>
          </a:p>
        </p:txBody>
      </p:sp>
      <p:sp>
        <p:nvSpPr>
          <p:cNvPr id="18" name="Rectangle: Rounded Corners 17">
            <a:extLst>
              <a:ext uri="{FF2B5EF4-FFF2-40B4-BE49-F238E27FC236}">
                <a16:creationId xmlns:a16="http://schemas.microsoft.com/office/drawing/2014/main" id="{C06E99F9-681F-4E31-B8E7-715787BF0E6C}"/>
              </a:ext>
            </a:extLst>
          </p:cNvPr>
          <p:cNvSpPr>
            <a:spLocks noGrp="1"/>
          </p:cNvSpPr>
          <p:nvPr/>
        </p:nvSpPr>
        <p:spPr>
          <a:xfrm>
            <a:off x="8915400" y="2447925"/>
            <a:ext cx="2324100" cy="1581150"/>
          </a:xfrm>
          <a:prstGeom prst="roundRect">
            <a:avLst>
              <a:gd name="adj" fmla="val 4819"/>
            </a:avLst>
          </a:prstGeom>
          <a:solidFill>
            <a:srgbClr val="FFFFFF"/>
          </a:solidFill>
          <a:ln w="19050">
            <a:solidFill>
              <a:srgbClr val="26845A"/>
            </a:solidFill>
            <a:prstDash val="solid"/>
          </a:ln>
        </p:spPr>
        <p:txBody>
          <a:bodyPr/>
          <a:lstStyle/>
          <a:p>
            <a:endParaRPr lang="en-DE"/>
          </a:p>
        </p:txBody>
      </p:sp>
      <p:sp>
        <p:nvSpPr>
          <p:cNvPr id="19" name="Rectangle 18">
            <a:extLst>
              <a:ext uri="{FF2B5EF4-FFF2-40B4-BE49-F238E27FC236}">
                <a16:creationId xmlns:a16="http://schemas.microsoft.com/office/drawing/2014/main" id="{254AF70F-82C7-42C8-A9A4-3E484E30E088}"/>
              </a:ext>
            </a:extLst>
          </p:cNvPr>
          <p:cNvSpPr>
            <a:spLocks noGrp="1"/>
          </p:cNvSpPr>
          <p:nvPr/>
        </p:nvSpPr>
        <p:spPr>
          <a:xfrm>
            <a:off x="9086850" y="2571750"/>
            <a:ext cx="533400" cy="247650"/>
          </a:xfrm>
          <a:prstGeom prst="rect">
            <a:avLst/>
          </a:prstGeom>
          <a:noFill/>
          <a:ln w="0">
            <a:noFill/>
          </a:ln>
        </p:spPr>
        <p:txBody>
          <a:bodyPr anchor="ctr">
            <a:normAutofit fontScale="97619"/>
          </a:bodyPr>
          <a:lstStyle/>
          <a:p>
            <a:pPr algn="l">
              <a:lnSpc>
                <a:spcPct val="100000"/>
              </a:lnSpc>
              <a:buNone/>
              <a:defRPr sz="1050" b="1">
                <a:solidFill>
                  <a:srgbClr val="26845A"/>
                </a:solidFill>
                <a:latin typeface="Aptos"/>
                <a:ea typeface="Aptos"/>
                <a:cs typeface="Aptos"/>
              </a:defRPr>
            </a:pPr>
            <a:r>
              <a:rPr sz="1050" b="1">
                <a:solidFill>
                  <a:srgbClr val="26845A"/>
                </a:solidFill>
                <a:latin typeface="Aptos"/>
                <a:ea typeface="Aptos"/>
                <a:cs typeface="Aptos"/>
              </a:rPr>
              <a:t>04</a:t>
            </a:r>
          </a:p>
        </p:txBody>
      </p:sp>
      <p:sp>
        <p:nvSpPr>
          <p:cNvPr id="20" name="Rectangle 19">
            <a:extLst>
              <a:ext uri="{FF2B5EF4-FFF2-40B4-BE49-F238E27FC236}">
                <a16:creationId xmlns:a16="http://schemas.microsoft.com/office/drawing/2014/main" id="{F6134080-3653-4A92-8469-4117F0132C03}"/>
              </a:ext>
            </a:extLst>
          </p:cNvPr>
          <p:cNvSpPr>
            <a:spLocks noGrp="1"/>
          </p:cNvSpPr>
          <p:nvPr/>
        </p:nvSpPr>
        <p:spPr>
          <a:xfrm>
            <a:off x="9086850" y="2914650"/>
            <a:ext cx="1981200" cy="400050"/>
          </a:xfrm>
          <a:prstGeom prst="rect">
            <a:avLst/>
          </a:prstGeom>
          <a:noFill/>
          <a:ln w="0">
            <a:noFill/>
          </a:ln>
        </p:spPr>
        <p:txBody>
          <a:bodyPr anchor="ctr">
            <a:normAutofit/>
          </a:bodyPr>
          <a:lstStyle/>
          <a:p>
            <a:pPr algn="l">
              <a:lnSpc>
                <a:spcPct val="100000"/>
              </a:lnSpc>
              <a:buNone/>
              <a:defRPr sz="1650" b="1">
                <a:solidFill>
                  <a:srgbClr val="26845A"/>
                </a:solidFill>
                <a:latin typeface="Aptos"/>
                <a:ea typeface="Aptos"/>
                <a:cs typeface="Aptos"/>
              </a:defRPr>
            </a:pPr>
            <a:r>
              <a:rPr sz="1650" b="1">
                <a:solidFill>
                  <a:srgbClr val="26845A"/>
                </a:solidFill>
                <a:latin typeface="Aptos"/>
                <a:ea typeface="Aptos"/>
                <a:cs typeface="Aptos"/>
              </a:rPr>
              <a:t>IMPROVE</a:t>
            </a:r>
          </a:p>
        </p:txBody>
      </p:sp>
      <p:sp>
        <p:nvSpPr>
          <p:cNvPr id="21" name="Rectangle 20">
            <a:extLst>
              <a:ext uri="{FF2B5EF4-FFF2-40B4-BE49-F238E27FC236}">
                <a16:creationId xmlns:a16="http://schemas.microsoft.com/office/drawing/2014/main" id="{452D8EDA-E8D7-49D0-A27F-08060AEFD45E}"/>
              </a:ext>
            </a:extLst>
          </p:cNvPr>
          <p:cNvSpPr>
            <a:spLocks noGrp="1"/>
          </p:cNvSpPr>
          <p:nvPr/>
        </p:nvSpPr>
        <p:spPr>
          <a:xfrm>
            <a:off x="9086850" y="3371850"/>
            <a:ext cx="1981200" cy="4000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one decision</a:t>
            </a:r>
          </a:p>
        </p:txBody>
      </p:sp>
      <p:sp>
        <p:nvSpPr>
          <p:cNvPr id="22" name="Rectangle 21">
            <a:extLst>
              <a:ext uri="{FF2B5EF4-FFF2-40B4-BE49-F238E27FC236}">
                <a16:creationId xmlns:a16="http://schemas.microsoft.com/office/drawing/2014/main" id="{73433EC2-8E88-444F-912B-BA0438F7EC0C}"/>
              </a:ext>
            </a:extLst>
          </p:cNvPr>
          <p:cNvSpPr>
            <a:spLocks noGrp="1"/>
          </p:cNvSpPr>
          <p:nvPr/>
        </p:nvSpPr>
        <p:spPr>
          <a:xfrm>
            <a:off x="628650" y="4514850"/>
            <a:ext cx="9810750" cy="552450"/>
          </a:xfrm>
          <a:prstGeom prst="rect">
            <a:avLst/>
          </a:prstGeom>
          <a:noFill/>
          <a:ln w="0">
            <a:noFill/>
          </a:ln>
        </p:spPr>
        <p:txBody>
          <a:bodyPr anchor="ctr">
            <a:normAutofit/>
          </a:bodyPr>
          <a:lstStyle/>
          <a:p>
            <a:pPr algn="l">
              <a:lnSpc>
                <a:spcPct val="100000"/>
              </a:lnSpc>
              <a:buNone/>
              <a:defRPr sz="2325" b="1">
                <a:solidFill>
                  <a:srgbClr val="181611"/>
                </a:solidFill>
                <a:latin typeface="Aptos"/>
                <a:ea typeface="Aptos"/>
                <a:cs typeface="Aptos"/>
              </a:defRPr>
            </a:pPr>
            <a:r>
              <a:rPr sz="2325" b="1">
                <a:solidFill>
                  <a:srgbClr val="181611"/>
                </a:solidFill>
                <a:latin typeface="Aptos"/>
                <a:ea typeface="Aptos"/>
                <a:cs typeface="Aptos"/>
              </a:rPr>
              <a:t>The code was the prototype. The behaviour was the evidence.</a:t>
            </a:r>
          </a:p>
        </p:txBody>
      </p:sp>
      <p:sp>
        <p:nvSpPr>
          <p:cNvPr id="23" name="Rectangle 22">
            <a:extLst>
              <a:ext uri="{FF2B5EF4-FFF2-40B4-BE49-F238E27FC236}">
                <a16:creationId xmlns:a16="http://schemas.microsoft.com/office/drawing/2014/main" id="{7BA0CD11-C444-4D51-AE6F-FF875FA13F84}"/>
              </a:ext>
            </a:extLst>
          </p:cNvPr>
          <p:cNvSpPr>
            <a:spLocks noGrp="1"/>
          </p:cNvSpPr>
          <p:nvPr/>
        </p:nvSpPr>
        <p:spPr>
          <a:xfrm>
            <a:off x="647700" y="5181600"/>
            <a:ext cx="8382000" cy="43815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What changed after somebody else played?</a:t>
            </a:r>
          </a:p>
        </p:txBody>
      </p:sp>
      <p:pic>
        <p:nvPicPr>
          <p:cNvPr id="49" name="Picture 48"/>
          <p:cNvPicPr>
            <a:picLocks noChangeAspect="1"/>
          </p:cNvPicPr>
          <p:nvPr/>
        </p:nvPicPr>
        <p:blipFill>
          <a:blip r:embed="rId3"/>
          <a:stretch/>
        </p:blipFill>
        <p:spPr>
          <a:xfrm>
            <a:off x="9859780" y="4333875"/>
            <a:ext cx="1311639" cy="1666875"/>
          </a:xfrm>
          <a:prstGeom prst="rect">
            <a:avLst/>
          </a:prstGeom>
        </p:spPr>
      </p:pic>
      <p:sp>
        <p:nvSpPr>
          <p:cNvPr id="25" name="Rectangle 24">
            <a:extLst>
              <a:ext uri="{FF2B5EF4-FFF2-40B4-BE49-F238E27FC236}">
                <a16:creationId xmlns:a16="http://schemas.microsoft.com/office/drawing/2014/main" id="{B02CB34B-7B26-4499-A7AF-4B3ABE636271}"/>
              </a:ext>
            </a:extLst>
          </p:cNvPr>
          <p:cNvSpPr>
            <a:spLocks noGrp="1"/>
          </p:cNvSpPr>
          <p:nvPr/>
        </p:nvSpPr>
        <p:spPr>
          <a:xfrm>
            <a:off x="11106150" y="6200775"/>
            <a:ext cx="476250" cy="228600"/>
          </a:xfrm>
          <a:prstGeom prst="rect">
            <a:avLst/>
          </a:prstGeom>
          <a:noFill/>
          <a:ln w="0">
            <a:noFill/>
          </a:ln>
        </p:spPr>
        <p:txBody>
          <a:bodyPr anchor="ctr">
            <a:normAutofit fontScale="92308"/>
          </a:bodyPr>
          <a:lstStyle/>
          <a:p>
            <a:pPr algn="r">
              <a:lnSpc>
                <a:spcPct val="100000"/>
              </a:lnSpc>
              <a:buNone/>
              <a:defRPr sz="975" b="1">
                <a:solidFill>
                  <a:srgbClr val="706A5D"/>
                </a:solidFill>
                <a:latin typeface="Aptos"/>
                <a:ea typeface="Aptos"/>
                <a:cs typeface="Aptos"/>
              </a:defRPr>
            </a:pPr>
            <a:r>
              <a:rPr sz="975" b="1">
                <a:solidFill>
                  <a:srgbClr val="706A5D"/>
                </a:solidFill>
                <a:latin typeface="Aptos"/>
                <a:ea typeface="Aptos"/>
                <a:cs typeface="Aptos"/>
              </a:rPr>
              <a:t>10</a:t>
            </a:r>
          </a:p>
        </p:txBody>
      </p:sp>
    </p:spTree>
    <p:extLst>
      <p:ext uri="{BB962C8B-B14F-4D97-AF65-F5344CB8AC3E}">
        <p14:creationId xmlns:p14="http://schemas.microsoft.com/office/powerpoint/2010/main" val="194948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EEE7D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B5C4BEE-A61A-4A3F-80B7-64E04502C718}"/>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FACILITATOR APPENDIX · HIDDEN</a:t>
            </a:r>
          </a:p>
        </p:txBody>
      </p:sp>
      <p:sp>
        <p:nvSpPr>
          <p:cNvPr id="2" name="Rectangle 1">
            <a:extLst>
              <a:ext uri="{FF2B5EF4-FFF2-40B4-BE49-F238E27FC236}">
                <a16:creationId xmlns:a16="http://schemas.microsoft.com/office/drawing/2014/main" id="{916B5755-3FD7-435B-BF0C-5EAC909FAEA3}"/>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Host sequence</a:t>
            </a:r>
          </a:p>
        </p:txBody>
      </p:sp>
      <p:sp>
        <p:nvSpPr>
          <p:cNvPr id="3" name="Rectangle 2">
            <a:extLst>
              <a:ext uri="{FF2B5EF4-FFF2-40B4-BE49-F238E27FC236}">
                <a16:creationId xmlns:a16="http://schemas.microsoft.com/office/drawing/2014/main" id="{E8235A18-8006-4EC7-9E08-08953BE207BF}"/>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Open privately: botthecreator.com/host</a:t>
            </a:r>
          </a:p>
        </p:txBody>
      </p:sp>
      <p:sp>
        <p:nvSpPr>
          <p:cNvPr id="4" name="Rectangle 3">
            <a:extLst>
              <a:ext uri="{FF2B5EF4-FFF2-40B4-BE49-F238E27FC236}">
                <a16:creationId xmlns:a16="http://schemas.microsoft.com/office/drawing/2014/main" id="{6A5DCF18-F812-4BC4-999E-C274AA6398FF}"/>
              </a:ext>
            </a:extLst>
          </p:cNvPr>
          <p:cNvSpPr>
            <a:spLocks noGrp="1"/>
          </p:cNvSpPr>
          <p:nvPr/>
        </p:nvSpPr>
        <p:spPr>
          <a:xfrm>
            <a:off x="666750" y="233362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00</a:t>
            </a:r>
          </a:p>
        </p:txBody>
      </p:sp>
      <p:sp>
        <p:nvSpPr>
          <p:cNvPr id="5" name="Rectangle 4">
            <a:extLst>
              <a:ext uri="{FF2B5EF4-FFF2-40B4-BE49-F238E27FC236}">
                <a16:creationId xmlns:a16="http://schemas.microsoft.com/office/drawing/2014/main" id="{2C85FC76-9ED2-4E38-AF8E-EB8C97428067}"/>
              </a:ext>
            </a:extLst>
          </p:cNvPr>
          <p:cNvSpPr>
            <a:spLocks noGrp="1"/>
          </p:cNvSpPr>
          <p:nvPr/>
        </p:nvSpPr>
        <p:spPr>
          <a:xfrm>
            <a:off x="666750" y="280035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Brief + group setup</a:t>
            </a:r>
          </a:p>
        </p:txBody>
      </p:sp>
      <p:sp>
        <p:nvSpPr>
          <p:cNvPr id="6" name="Rectangle 5">
            <a:extLst>
              <a:ext uri="{FF2B5EF4-FFF2-40B4-BE49-F238E27FC236}">
                <a16:creationId xmlns:a16="http://schemas.microsoft.com/office/drawing/2014/main" id="{02C2D7C9-B939-493E-9F00-3A505215DFE2}"/>
              </a:ext>
            </a:extLst>
          </p:cNvPr>
          <p:cNvSpPr>
            <a:spLocks noGrp="1"/>
          </p:cNvSpPr>
          <p:nvPr/>
        </p:nvSpPr>
        <p:spPr>
          <a:xfrm>
            <a:off x="3381375" y="233362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05</a:t>
            </a:r>
          </a:p>
        </p:txBody>
      </p:sp>
      <p:sp>
        <p:nvSpPr>
          <p:cNvPr id="7" name="Rectangle 6">
            <a:extLst>
              <a:ext uri="{FF2B5EF4-FFF2-40B4-BE49-F238E27FC236}">
                <a16:creationId xmlns:a16="http://schemas.microsoft.com/office/drawing/2014/main" id="{A6E6B551-AB8B-4D42-8C23-A7B9C9BA4ED8}"/>
              </a:ext>
            </a:extLst>
          </p:cNvPr>
          <p:cNvSpPr>
            <a:spLocks noGrp="1"/>
          </p:cNvSpPr>
          <p:nvPr/>
        </p:nvSpPr>
        <p:spPr>
          <a:xfrm>
            <a:off x="3381375" y="2800350"/>
            <a:ext cx="2362200" cy="590550"/>
          </a:xfrm>
          <a:prstGeom prst="rect">
            <a:avLst/>
          </a:prstGeom>
          <a:noFill/>
          <a:ln w="0">
            <a:noFill/>
          </a:ln>
        </p:spPr>
        <p:txBody>
          <a:bodyPr anchor="ctr">
            <a:normAutofit fontScale="94927"/>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Four decisions + prompt sprint</a:t>
            </a:r>
          </a:p>
        </p:txBody>
      </p:sp>
      <p:sp>
        <p:nvSpPr>
          <p:cNvPr id="8" name="Rectangle 7">
            <a:extLst>
              <a:ext uri="{FF2B5EF4-FFF2-40B4-BE49-F238E27FC236}">
                <a16:creationId xmlns:a16="http://schemas.microsoft.com/office/drawing/2014/main" id="{1509BFDB-ED0B-4F7D-9FF3-850835A0E21C}"/>
              </a:ext>
            </a:extLst>
          </p:cNvPr>
          <p:cNvSpPr>
            <a:spLocks noGrp="1"/>
          </p:cNvSpPr>
          <p:nvPr/>
        </p:nvSpPr>
        <p:spPr>
          <a:xfrm>
            <a:off x="6096000" y="233362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10</a:t>
            </a:r>
          </a:p>
        </p:txBody>
      </p:sp>
      <p:sp>
        <p:nvSpPr>
          <p:cNvPr id="9" name="Rectangle 8">
            <a:extLst>
              <a:ext uri="{FF2B5EF4-FFF2-40B4-BE49-F238E27FC236}">
                <a16:creationId xmlns:a16="http://schemas.microsoft.com/office/drawing/2014/main" id="{3322A9A2-D85D-47E3-BF4E-DD28F60C3B29}"/>
              </a:ext>
            </a:extLst>
          </p:cNvPr>
          <p:cNvSpPr>
            <a:spLocks noGrp="1"/>
          </p:cNvSpPr>
          <p:nvPr/>
        </p:nvSpPr>
        <p:spPr>
          <a:xfrm>
            <a:off x="6096000" y="280035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Build</a:t>
            </a:r>
          </a:p>
        </p:txBody>
      </p:sp>
      <p:sp>
        <p:nvSpPr>
          <p:cNvPr id="10" name="Rectangle 9">
            <a:extLst>
              <a:ext uri="{FF2B5EF4-FFF2-40B4-BE49-F238E27FC236}">
                <a16:creationId xmlns:a16="http://schemas.microsoft.com/office/drawing/2014/main" id="{813A3335-B787-4608-A54A-40189980D490}"/>
              </a:ext>
            </a:extLst>
          </p:cNvPr>
          <p:cNvSpPr>
            <a:spLocks noGrp="1"/>
          </p:cNvSpPr>
          <p:nvPr/>
        </p:nvSpPr>
        <p:spPr>
          <a:xfrm>
            <a:off x="8810625" y="233362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30</a:t>
            </a:r>
          </a:p>
        </p:txBody>
      </p:sp>
      <p:sp>
        <p:nvSpPr>
          <p:cNvPr id="11" name="Rectangle 10">
            <a:extLst>
              <a:ext uri="{FF2B5EF4-FFF2-40B4-BE49-F238E27FC236}">
                <a16:creationId xmlns:a16="http://schemas.microsoft.com/office/drawing/2014/main" id="{9074DA2E-1E5F-4572-9AD0-EADAC9954D6A}"/>
              </a:ext>
            </a:extLst>
          </p:cNvPr>
          <p:cNvSpPr>
            <a:spLocks noGrp="1"/>
          </p:cNvSpPr>
          <p:nvPr/>
        </p:nvSpPr>
        <p:spPr>
          <a:xfrm>
            <a:off x="8810625" y="280035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Peer test</a:t>
            </a:r>
          </a:p>
        </p:txBody>
      </p:sp>
      <p:sp>
        <p:nvSpPr>
          <p:cNvPr id="12" name="Rectangle 11">
            <a:extLst>
              <a:ext uri="{FF2B5EF4-FFF2-40B4-BE49-F238E27FC236}">
                <a16:creationId xmlns:a16="http://schemas.microsoft.com/office/drawing/2014/main" id="{54B8CF63-D364-4FF0-BC33-DF020877AE98}"/>
              </a:ext>
            </a:extLst>
          </p:cNvPr>
          <p:cNvSpPr>
            <a:spLocks noGrp="1"/>
          </p:cNvSpPr>
          <p:nvPr/>
        </p:nvSpPr>
        <p:spPr>
          <a:xfrm>
            <a:off x="666750" y="376237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38</a:t>
            </a:r>
          </a:p>
        </p:txBody>
      </p:sp>
      <p:sp>
        <p:nvSpPr>
          <p:cNvPr id="13" name="Rectangle 12">
            <a:extLst>
              <a:ext uri="{FF2B5EF4-FFF2-40B4-BE49-F238E27FC236}">
                <a16:creationId xmlns:a16="http://schemas.microsoft.com/office/drawing/2014/main" id="{7B568ADD-E72F-4884-AA93-A36CFEE46AED}"/>
              </a:ext>
            </a:extLst>
          </p:cNvPr>
          <p:cNvSpPr>
            <a:spLocks noGrp="1"/>
          </p:cNvSpPr>
          <p:nvPr/>
        </p:nvSpPr>
        <p:spPr>
          <a:xfrm>
            <a:off x="666750" y="422910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Improve</a:t>
            </a:r>
          </a:p>
        </p:txBody>
      </p:sp>
      <p:sp>
        <p:nvSpPr>
          <p:cNvPr id="14" name="Rectangle 13">
            <a:extLst>
              <a:ext uri="{FF2B5EF4-FFF2-40B4-BE49-F238E27FC236}">
                <a16:creationId xmlns:a16="http://schemas.microsoft.com/office/drawing/2014/main" id="{3529118B-2BA9-4945-A023-916C193BD0F3}"/>
              </a:ext>
            </a:extLst>
          </p:cNvPr>
          <p:cNvSpPr>
            <a:spLocks noGrp="1"/>
          </p:cNvSpPr>
          <p:nvPr/>
        </p:nvSpPr>
        <p:spPr>
          <a:xfrm>
            <a:off x="3381375" y="376237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48</a:t>
            </a:r>
          </a:p>
        </p:txBody>
      </p:sp>
      <p:sp>
        <p:nvSpPr>
          <p:cNvPr id="15" name="Rectangle 14">
            <a:extLst>
              <a:ext uri="{FF2B5EF4-FFF2-40B4-BE49-F238E27FC236}">
                <a16:creationId xmlns:a16="http://schemas.microsoft.com/office/drawing/2014/main" id="{A8F16908-E637-47AE-BD05-1E20E837EF94}"/>
              </a:ext>
            </a:extLst>
          </p:cNvPr>
          <p:cNvSpPr>
            <a:spLocks noGrp="1"/>
          </p:cNvSpPr>
          <p:nvPr/>
        </p:nvSpPr>
        <p:spPr>
          <a:xfrm>
            <a:off x="3381375" y="422910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Publish</a:t>
            </a:r>
          </a:p>
        </p:txBody>
      </p:sp>
      <p:sp>
        <p:nvSpPr>
          <p:cNvPr id="16" name="Rectangle 15">
            <a:extLst>
              <a:ext uri="{FF2B5EF4-FFF2-40B4-BE49-F238E27FC236}">
                <a16:creationId xmlns:a16="http://schemas.microsoft.com/office/drawing/2014/main" id="{5790699B-E8E7-483E-8C91-49D220107D56}"/>
              </a:ext>
            </a:extLst>
          </p:cNvPr>
          <p:cNvSpPr>
            <a:spLocks noGrp="1"/>
          </p:cNvSpPr>
          <p:nvPr/>
        </p:nvSpPr>
        <p:spPr>
          <a:xfrm>
            <a:off x="6096000" y="376237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53</a:t>
            </a:r>
          </a:p>
        </p:txBody>
      </p:sp>
      <p:sp>
        <p:nvSpPr>
          <p:cNvPr id="17" name="Rectangle 16">
            <a:extLst>
              <a:ext uri="{FF2B5EF4-FFF2-40B4-BE49-F238E27FC236}">
                <a16:creationId xmlns:a16="http://schemas.microsoft.com/office/drawing/2014/main" id="{6FDD4852-6057-4510-AE37-8519238B733F}"/>
              </a:ext>
            </a:extLst>
          </p:cNvPr>
          <p:cNvSpPr>
            <a:spLocks noGrp="1"/>
          </p:cNvSpPr>
          <p:nvPr/>
        </p:nvSpPr>
        <p:spPr>
          <a:xfrm>
            <a:off x="6096000" y="422910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Open voting</a:t>
            </a:r>
          </a:p>
        </p:txBody>
      </p:sp>
      <p:sp>
        <p:nvSpPr>
          <p:cNvPr id="18" name="Rectangle 17">
            <a:extLst>
              <a:ext uri="{FF2B5EF4-FFF2-40B4-BE49-F238E27FC236}">
                <a16:creationId xmlns:a16="http://schemas.microsoft.com/office/drawing/2014/main" id="{1A6EB792-12F4-40BF-804A-49DD44CEEF42}"/>
              </a:ext>
            </a:extLst>
          </p:cNvPr>
          <p:cNvSpPr>
            <a:spLocks noGrp="1"/>
          </p:cNvSpPr>
          <p:nvPr/>
        </p:nvSpPr>
        <p:spPr>
          <a:xfrm>
            <a:off x="8810625" y="3762375"/>
            <a:ext cx="628650" cy="457200"/>
          </a:xfrm>
          <a:prstGeom prst="rect">
            <a:avLst/>
          </a:prstGeom>
          <a:noFill/>
          <a:ln w="0">
            <a:noFill/>
          </a:ln>
        </p:spPr>
        <p:txBody>
          <a:bodyPr anchor="ctr">
            <a:normAutofit fontScale="94118"/>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58</a:t>
            </a:r>
          </a:p>
        </p:txBody>
      </p:sp>
      <p:sp>
        <p:nvSpPr>
          <p:cNvPr id="19" name="Rectangle 18">
            <a:extLst>
              <a:ext uri="{FF2B5EF4-FFF2-40B4-BE49-F238E27FC236}">
                <a16:creationId xmlns:a16="http://schemas.microsoft.com/office/drawing/2014/main" id="{B9DB00BD-8B1B-48F5-92B7-27BAC1A718D9}"/>
              </a:ext>
            </a:extLst>
          </p:cNvPr>
          <p:cNvSpPr>
            <a:spLocks noGrp="1"/>
          </p:cNvSpPr>
          <p:nvPr/>
        </p:nvSpPr>
        <p:spPr>
          <a:xfrm>
            <a:off x="8810625" y="4229100"/>
            <a:ext cx="2362200" cy="590550"/>
          </a:xfrm>
          <a:prstGeom prst="rect">
            <a:avLst/>
          </a:prstGeom>
          <a:noFill/>
          <a:ln w="0">
            <a:noFill/>
          </a:ln>
        </p:spPr>
        <p:txBody>
          <a:bodyPr anchor="ctr">
            <a:normAutofit/>
          </a:bodyPr>
          <a:lstStyle/>
          <a:p>
            <a:pPr algn="l">
              <a:lnSpc>
                <a:spcPct val="100000"/>
              </a:lnSpc>
              <a:buNone/>
              <a:defRPr sz="1725" b="1">
                <a:solidFill>
                  <a:srgbClr val="181611"/>
                </a:solidFill>
                <a:latin typeface="Aptos"/>
                <a:ea typeface="Aptos"/>
                <a:cs typeface="Aptos"/>
              </a:defRPr>
            </a:pPr>
            <a:r>
              <a:rPr sz="1725" b="1">
                <a:solidFill>
                  <a:srgbClr val="181611"/>
                </a:solidFill>
                <a:latin typeface="Aptos"/>
                <a:ea typeface="Aptos"/>
                <a:cs typeface="Aptos"/>
              </a:rPr>
              <a:t>Debrief</a:t>
            </a:r>
          </a:p>
        </p:txBody>
      </p:sp>
      <p:sp>
        <p:nvSpPr>
          <p:cNvPr id="20" name="Rectangle 19">
            <a:extLst>
              <a:ext uri="{FF2B5EF4-FFF2-40B4-BE49-F238E27FC236}">
                <a16:creationId xmlns:a16="http://schemas.microsoft.com/office/drawing/2014/main" id="{8D162F91-8D9F-40D7-A1E6-E36905A7CCEE}"/>
              </a:ext>
            </a:extLst>
          </p:cNvPr>
          <p:cNvSpPr>
            <a:spLocks noGrp="1"/>
          </p:cNvSpPr>
          <p:nvPr/>
        </p:nvSpPr>
        <p:spPr>
          <a:xfrm>
            <a:off x="666750" y="5448300"/>
            <a:ext cx="6667500" cy="400050"/>
          </a:xfrm>
          <a:prstGeom prst="rect">
            <a:avLst/>
          </a:prstGeom>
          <a:noFill/>
          <a:ln w="0">
            <a:noFill/>
          </a:ln>
        </p:spPr>
        <p:txBody>
          <a:bodyPr anchor="ctr">
            <a:normAutofit/>
          </a:bodyPr>
          <a:lstStyle/>
          <a:p>
            <a:pPr algn="l">
              <a:lnSpc>
                <a:spcPct val="100000"/>
              </a:lnSpc>
              <a:buNone/>
              <a:defRPr sz="1725" b="1">
                <a:solidFill>
                  <a:srgbClr val="C94A4A"/>
                </a:solidFill>
                <a:latin typeface="Aptos"/>
                <a:ea typeface="Aptos"/>
                <a:cs typeface="Aptos"/>
              </a:defRPr>
            </a:pPr>
            <a:r>
              <a:rPr sz="1725" b="1">
                <a:solidFill>
                  <a:srgbClr val="C94A4A"/>
                </a:solidFill>
                <a:latin typeface="Aptos"/>
                <a:ea typeface="Aptos"/>
                <a:cs typeface="Aptos"/>
              </a:rPr>
              <a:t>Never display the teacher access code.</a:t>
            </a:r>
          </a:p>
        </p:txBody>
      </p:sp>
    </p:spTree>
    <p:extLst>
      <p:ext uri="{BB962C8B-B14F-4D97-AF65-F5344CB8AC3E}">
        <p14:creationId xmlns:p14="http://schemas.microsoft.com/office/powerpoint/2010/main" val="2001137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EEE7D8"/>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F1293D-D7E7-447F-877F-2F129DCD1513}"/>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FACILITATOR APPENDIX · HIDDEN</a:t>
            </a:r>
          </a:p>
        </p:txBody>
      </p:sp>
      <p:sp>
        <p:nvSpPr>
          <p:cNvPr id="2" name="Rectangle 1">
            <a:extLst>
              <a:ext uri="{FF2B5EF4-FFF2-40B4-BE49-F238E27FC236}">
                <a16:creationId xmlns:a16="http://schemas.microsoft.com/office/drawing/2014/main" id="{A678DE01-8627-4945-9EB9-83068310E08C}"/>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What voting does</a:t>
            </a:r>
          </a:p>
        </p:txBody>
      </p:sp>
      <p:sp>
        <p:nvSpPr>
          <p:cNvPr id="3" name="Rectangle 2">
            <a:extLst>
              <a:ext uri="{FF2B5EF4-FFF2-40B4-BE49-F238E27FC236}">
                <a16:creationId xmlns:a16="http://schemas.microsoft.com/office/drawing/2014/main" id="{CD180B85-4E77-4ABB-936B-A13378CC6AD5}"/>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Useful behaviour to announce out loud</a:t>
            </a:r>
          </a:p>
        </p:txBody>
      </p:sp>
      <p:sp>
        <p:nvSpPr>
          <p:cNvPr id="4" name="Rectangle: Rounded Corners 3">
            <a:extLst>
              <a:ext uri="{FF2B5EF4-FFF2-40B4-BE49-F238E27FC236}">
                <a16:creationId xmlns:a16="http://schemas.microsoft.com/office/drawing/2014/main" id="{8738FEB7-93FE-4F32-85C2-F6972BA35211}"/>
              </a:ext>
            </a:extLst>
          </p:cNvPr>
          <p:cNvSpPr>
            <a:spLocks noGrp="1"/>
          </p:cNvSpPr>
          <p:nvPr/>
        </p:nvSpPr>
        <p:spPr>
          <a:xfrm>
            <a:off x="742950" y="2286000"/>
            <a:ext cx="457200" cy="457200"/>
          </a:xfrm>
          <a:prstGeom prst="roundRect">
            <a:avLst>
              <a:gd name="adj" fmla="val 16667"/>
            </a:avLst>
          </a:prstGeom>
          <a:solidFill>
            <a:srgbClr val="2F6FED"/>
          </a:solidFill>
          <a:ln w="0">
            <a:solidFill>
              <a:srgbClr val="2F6FED"/>
            </a:solidFill>
            <a:prstDash val="solid"/>
          </a:ln>
        </p:spPr>
        <p:txBody>
          <a:bodyPr/>
          <a:lstStyle/>
          <a:p>
            <a:endParaRPr lang="en-DE"/>
          </a:p>
        </p:txBody>
      </p:sp>
      <p:sp>
        <p:nvSpPr>
          <p:cNvPr id="5" name="Rectangle 4">
            <a:extLst>
              <a:ext uri="{FF2B5EF4-FFF2-40B4-BE49-F238E27FC236}">
                <a16:creationId xmlns:a16="http://schemas.microsoft.com/office/drawing/2014/main" id="{685161CD-54E3-4EF3-8926-FE59140E691C}"/>
              </a:ext>
            </a:extLst>
          </p:cNvPr>
          <p:cNvSpPr>
            <a:spLocks noGrp="1"/>
          </p:cNvSpPr>
          <p:nvPr/>
        </p:nvSpPr>
        <p:spPr>
          <a:xfrm>
            <a:off x="742950" y="2286000"/>
            <a:ext cx="457200" cy="457200"/>
          </a:xfrm>
          <a:prstGeom prst="rect">
            <a:avLst/>
          </a:prstGeom>
          <a:noFill/>
          <a:ln w="0">
            <a:noFill/>
          </a:ln>
        </p:spPr>
        <p:txBody>
          <a:bodyPr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6" name="Rectangle 5">
            <a:extLst>
              <a:ext uri="{FF2B5EF4-FFF2-40B4-BE49-F238E27FC236}">
                <a16:creationId xmlns:a16="http://schemas.microsoft.com/office/drawing/2014/main" id="{3ACEBE96-4EBC-4325-8160-7A43385FC918}"/>
              </a:ext>
            </a:extLst>
          </p:cNvPr>
          <p:cNvSpPr>
            <a:spLocks noGrp="1"/>
          </p:cNvSpPr>
          <p:nvPr/>
        </p:nvSpPr>
        <p:spPr>
          <a:xfrm>
            <a:off x="1466850" y="2190750"/>
            <a:ext cx="9048750" cy="647700"/>
          </a:xfrm>
          <a:prstGeom prst="rect">
            <a:avLst/>
          </a:prstGeom>
          <a:noFill/>
          <a:ln w="0">
            <a:noFill/>
          </a:ln>
        </p:spPr>
        <p:txBody>
          <a:bodyPr anchor="ctr">
            <a:normAutofit/>
          </a:bodyPr>
          <a:lstStyle/>
          <a:p>
            <a:pPr algn="l">
              <a:lnSpc>
                <a:spcPct val="100000"/>
              </a:lnSpc>
              <a:buNone/>
              <a:defRPr sz="2025" b="1">
                <a:solidFill>
                  <a:srgbClr val="181611"/>
                </a:solidFill>
                <a:latin typeface="Aptos"/>
                <a:ea typeface="Aptos"/>
                <a:cs typeface="Aptos"/>
              </a:defRPr>
            </a:pPr>
            <a:r>
              <a:rPr sz="2025" b="1">
                <a:solidFill>
                  <a:srgbClr val="181611"/>
                </a:solidFill>
                <a:latin typeface="Aptos"/>
                <a:ea typeface="Aptos"/>
                <a:cs typeface="Aptos"/>
              </a:rPr>
              <a:t>Browsers notice the phase on the next ~10-second poll.</a:t>
            </a:r>
          </a:p>
        </p:txBody>
      </p:sp>
      <p:sp>
        <p:nvSpPr>
          <p:cNvPr id="7" name="Rectangle: Rounded Corners 6">
            <a:extLst>
              <a:ext uri="{FF2B5EF4-FFF2-40B4-BE49-F238E27FC236}">
                <a16:creationId xmlns:a16="http://schemas.microsoft.com/office/drawing/2014/main" id="{8991FD68-EA79-4515-82A1-3A1F7C195496}"/>
              </a:ext>
            </a:extLst>
          </p:cNvPr>
          <p:cNvSpPr>
            <a:spLocks noGrp="1"/>
          </p:cNvSpPr>
          <p:nvPr/>
        </p:nvSpPr>
        <p:spPr>
          <a:xfrm>
            <a:off x="742950" y="3152775"/>
            <a:ext cx="457200" cy="457200"/>
          </a:xfrm>
          <a:prstGeom prst="roundRect">
            <a:avLst>
              <a:gd name="adj" fmla="val 16667"/>
            </a:avLst>
          </a:prstGeom>
          <a:solidFill>
            <a:srgbClr val="2F6FED"/>
          </a:solidFill>
          <a:ln w="0">
            <a:solidFill>
              <a:srgbClr val="2F6FED"/>
            </a:solidFill>
            <a:prstDash val="solid"/>
          </a:ln>
        </p:spPr>
        <p:txBody>
          <a:bodyPr/>
          <a:lstStyle/>
          <a:p>
            <a:endParaRPr lang="en-DE"/>
          </a:p>
        </p:txBody>
      </p:sp>
      <p:sp>
        <p:nvSpPr>
          <p:cNvPr id="8" name="Rectangle 7">
            <a:extLst>
              <a:ext uri="{FF2B5EF4-FFF2-40B4-BE49-F238E27FC236}">
                <a16:creationId xmlns:a16="http://schemas.microsoft.com/office/drawing/2014/main" id="{E9A350AF-50FA-4F6D-828C-E3EC409186A3}"/>
              </a:ext>
            </a:extLst>
          </p:cNvPr>
          <p:cNvSpPr>
            <a:spLocks noGrp="1"/>
          </p:cNvSpPr>
          <p:nvPr/>
        </p:nvSpPr>
        <p:spPr>
          <a:xfrm>
            <a:off x="742950" y="3152775"/>
            <a:ext cx="457200" cy="457200"/>
          </a:xfrm>
          <a:prstGeom prst="rect">
            <a:avLst/>
          </a:prstGeom>
          <a:noFill/>
          <a:ln w="0">
            <a:noFill/>
          </a:ln>
        </p:spPr>
        <p:txBody>
          <a:bodyPr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9" name="Rectangle 8">
            <a:extLst>
              <a:ext uri="{FF2B5EF4-FFF2-40B4-BE49-F238E27FC236}">
                <a16:creationId xmlns:a16="http://schemas.microsoft.com/office/drawing/2014/main" id="{E1B11EC1-B1A2-4D79-9534-2EE8D035676B}"/>
              </a:ext>
            </a:extLst>
          </p:cNvPr>
          <p:cNvSpPr>
            <a:spLocks noGrp="1"/>
          </p:cNvSpPr>
          <p:nvPr/>
        </p:nvSpPr>
        <p:spPr>
          <a:xfrm>
            <a:off x="1466850" y="3057525"/>
            <a:ext cx="9048750" cy="647700"/>
          </a:xfrm>
          <a:prstGeom prst="rect">
            <a:avLst/>
          </a:prstGeom>
          <a:noFill/>
          <a:ln w="0">
            <a:noFill/>
          </a:ln>
        </p:spPr>
        <p:txBody>
          <a:bodyPr anchor="ctr">
            <a:normAutofit/>
          </a:bodyPr>
          <a:lstStyle/>
          <a:p>
            <a:pPr algn="l">
              <a:lnSpc>
                <a:spcPct val="100000"/>
              </a:lnSpc>
              <a:buNone/>
              <a:defRPr sz="2025" b="1">
                <a:solidFill>
                  <a:srgbClr val="181611"/>
                </a:solidFill>
                <a:latin typeface="Aptos"/>
                <a:ea typeface="Aptos"/>
                <a:cs typeface="Aptos"/>
              </a:defRPr>
            </a:pPr>
            <a:r>
              <a:rPr sz="2025" b="1">
                <a:solidFill>
                  <a:srgbClr val="181611"/>
                </a:solidFill>
                <a:latin typeface="Aptos"/>
                <a:ea typeface="Aptos"/>
                <a:cs typeface="Aptos"/>
              </a:rPr>
              <a:t>A banner appears; the gallery does not open itself.</a:t>
            </a:r>
          </a:p>
        </p:txBody>
      </p:sp>
      <p:sp>
        <p:nvSpPr>
          <p:cNvPr id="10" name="Rectangle: Rounded Corners 9">
            <a:extLst>
              <a:ext uri="{FF2B5EF4-FFF2-40B4-BE49-F238E27FC236}">
                <a16:creationId xmlns:a16="http://schemas.microsoft.com/office/drawing/2014/main" id="{16918437-7D81-4DCC-B241-F4A809726E69}"/>
              </a:ext>
            </a:extLst>
          </p:cNvPr>
          <p:cNvSpPr>
            <a:spLocks noGrp="1"/>
          </p:cNvSpPr>
          <p:nvPr/>
        </p:nvSpPr>
        <p:spPr>
          <a:xfrm>
            <a:off x="742950" y="4019550"/>
            <a:ext cx="457200" cy="457200"/>
          </a:xfrm>
          <a:prstGeom prst="roundRect">
            <a:avLst>
              <a:gd name="adj" fmla="val 16667"/>
            </a:avLst>
          </a:prstGeom>
          <a:solidFill>
            <a:srgbClr val="BE2F9F"/>
          </a:solidFill>
          <a:ln w="0">
            <a:solidFill>
              <a:srgbClr val="BE2F9F"/>
            </a:solidFill>
            <a:prstDash val="solid"/>
          </a:ln>
        </p:spPr>
        <p:txBody>
          <a:bodyPr/>
          <a:lstStyle/>
          <a:p>
            <a:endParaRPr lang="en-DE"/>
          </a:p>
        </p:txBody>
      </p:sp>
      <p:sp>
        <p:nvSpPr>
          <p:cNvPr id="11" name="Rectangle 10">
            <a:extLst>
              <a:ext uri="{FF2B5EF4-FFF2-40B4-BE49-F238E27FC236}">
                <a16:creationId xmlns:a16="http://schemas.microsoft.com/office/drawing/2014/main" id="{4E9F9CC4-5349-411B-AE1B-403604FEE060}"/>
              </a:ext>
            </a:extLst>
          </p:cNvPr>
          <p:cNvSpPr>
            <a:spLocks noGrp="1"/>
          </p:cNvSpPr>
          <p:nvPr/>
        </p:nvSpPr>
        <p:spPr>
          <a:xfrm>
            <a:off x="742950" y="4019550"/>
            <a:ext cx="457200" cy="457200"/>
          </a:xfrm>
          <a:prstGeom prst="rect">
            <a:avLst/>
          </a:prstGeom>
          <a:noFill/>
          <a:ln w="0">
            <a:noFill/>
          </a:ln>
        </p:spPr>
        <p:txBody>
          <a:bodyPr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2" name="Rectangle 11">
            <a:extLst>
              <a:ext uri="{FF2B5EF4-FFF2-40B4-BE49-F238E27FC236}">
                <a16:creationId xmlns:a16="http://schemas.microsoft.com/office/drawing/2014/main" id="{9567D59A-86CD-435A-AD19-F3FF7A6C0EC9}"/>
              </a:ext>
            </a:extLst>
          </p:cNvPr>
          <p:cNvSpPr>
            <a:spLocks noGrp="1"/>
          </p:cNvSpPr>
          <p:nvPr/>
        </p:nvSpPr>
        <p:spPr>
          <a:xfrm>
            <a:off x="1466850" y="3924300"/>
            <a:ext cx="9048750" cy="647700"/>
          </a:xfrm>
          <a:prstGeom prst="rect">
            <a:avLst/>
          </a:prstGeom>
          <a:noFill/>
          <a:ln w="0">
            <a:noFill/>
          </a:ln>
        </p:spPr>
        <p:txBody>
          <a:bodyPr anchor="ctr">
            <a:normAutofit/>
          </a:bodyPr>
          <a:lstStyle/>
          <a:p>
            <a:pPr algn="l">
              <a:lnSpc>
                <a:spcPct val="100000"/>
              </a:lnSpc>
              <a:buNone/>
              <a:defRPr sz="2025" b="1">
                <a:solidFill>
                  <a:srgbClr val="181611"/>
                </a:solidFill>
                <a:latin typeface="Aptos"/>
                <a:ea typeface="Aptos"/>
                <a:cs typeface="Aptos"/>
              </a:defRPr>
            </a:pPr>
            <a:r>
              <a:rPr sz="2025" b="1">
                <a:solidFill>
                  <a:srgbClr val="181611"/>
                </a:solidFill>
                <a:latin typeface="Aptos"/>
                <a:ea typeface="Aptos"/>
                <a:cs typeface="Aptos"/>
              </a:rPr>
              <a:t>Each browser receives 3 tokens and 1 vote per game.</a:t>
            </a:r>
          </a:p>
        </p:txBody>
      </p:sp>
      <p:sp>
        <p:nvSpPr>
          <p:cNvPr id="13" name="Rectangle: Rounded Corners 12">
            <a:extLst>
              <a:ext uri="{FF2B5EF4-FFF2-40B4-BE49-F238E27FC236}">
                <a16:creationId xmlns:a16="http://schemas.microsoft.com/office/drawing/2014/main" id="{626F2F10-A877-4AEC-BD3A-60FF0EBB9195}"/>
              </a:ext>
            </a:extLst>
          </p:cNvPr>
          <p:cNvSpPr>
            <a:spLocks noGrp="1"/>
          </p:cNvSpPr>
          <p:nvPr/>
        </p:nvSpPr>
        <p:spPr>
          <a:xfrm>
            <a:off x="742950" y="4886325"/>
            <a:ext cx="457200" cy="457200"/>
          </a:xfrm>
          <a:prstGeom prst="roundRect">
            <a:avLst>
              <a:gd name="adj" fmla="val 16667"/>
            </a:avLst>
          </a:prstGeom>
          <a:solidFill>
            <a:srgbClr val="BE2F9F"/>
          </a:solidFill>
          <a:ln w="0">
            <a:solidFill>
              <a:srgbClr val="BE2F9F"/>
            </a:solidFill>
            <a:prstDash val="solid"/>
          </a:ln>
        </p:spPr>
        <p:txBody>
          <a:bodyPr/>
          <a:lstStyle/>
          <a:p>
            <a:endParaRPr lang="en-DE"/>
          </a:p>
        </p:txBody>
      </p:sp>
      <p:sp>
        <p:nvSpPr>
          <p:cNvPr id="14" name="Rectangle 13">
            <a:extLst>
              <a:ext uri="{FF2B5EF4-FFF2-40B4-BE49-F238E27FC236}">
                <a16:creationId xmlns:a16="http://schemas.microsoft.com/office/drawing/2014/main" id="{D3AC541C-038D-4134-8F47-E4FD3BDDDE60}"/>
              </a:ext>
            </a:extLst>
          </p:cNvPr>
          <p:cNvSpPr>
            <a:spLocks noGrp="1"/>
          </p:cNvSpPr>
          <p:nvPr/>
        </p:nvSpPr>
        <p:spPr>
          <a:xfrm>
            <a:off x="742950" y="4886325"/>
            <a:ext cx="457200" cy="457200"/>
          </a:xfrm>
          <a:prstGeom prst="rect">
            <a:avLst/>
          </a:prstGeom>
          <a:noFill/>
          <a:ln w="0">
            <a:noFill/>
          </a:ln>
        </p:spPr>
        <p:txBody>
          <a:bodyPr anchor="ctr">
            <a:normAutofit/>
          </a:bodyPr>
          <a:lstStyle/>
          <a:p>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15" name="Rectangle 14">
            <a:extLst>
              <a:ext uri="{FF2B5EF4-FFF2-40B4-BE49-F238E27FC236}">
                <a16:creationId xmlns:a16="http://schemas.microsoft.com/office/drawing/2014/main" id="{63FA8627-31BE-48AE-8F50-14F12B53E934}"/>
              </a:ext>
            </a:extLst>
          </p:cNvPr>
          <p:cNvSpPr>
            <a:spLocks noGrp="1"/>
          </p:cNvSpPr>
          <p:nvPr/>
        </p:nvSpPr>
        <p:spPr>
          <a:xfrm>
            <a:off x="1466850" y="4791075"/>
            <a:ext cx="9048750" cy="647700"/>
          </a:xfrm>
          <a:prstGeom prst="rect">
            <a:avLst/>
          </a:prstGeom>
          <a:noFill/>
          <a:ln w="0">
            <a:noFill/>
          </a:ln>
        </p:spPr>
        <p:txBody>
          <a:bodyPr anchor="ctr">
            <a:normAutofit/>
          </a:bodyPr>
          <a:lstStyle/>
          <a:p>
            <a:pPr algn="l">
              <a:lnSpc>
                <a:spcPct val="100000"/>
              </a:lnSpc>
              <a:buNone/>
              <a:defRPr sz="2025" b="1">
                <a:solidFill>
                  <a:srgbClr val="181611"/>
                </a:solidFill>
                <a:latin typeface="Aptos"/>
                <a:ea typeface="Aptos"/>
                <a:cs typeface="Aptos"/>
              </a:defRPr>
            </a:pPr>
            <a:r>
              <a:rPr sz="2025" b="1">
                <a:solidFill>
                  <a:srgbClr val="181611"/>
                </a:solidFill>
                <a:latin typeface="Aptos"/>
                <a:ea typeface="Aptos"/>
                <a:cs typeface="Aptos"/>
              </a:rPr>
              <a:t>Vote totals are visible. Present honors, not a league table.</a:t>
            </a:r>
          </a:p>
        </p:txBody>
      </p:sp>
    </p:spTree>
    <p:extLst>
      <p:ext uri="{BB962C8B-B14F-4D97-AF65-F5344CB8AC3E}">
        <p14:creationId xmlns:p14="http://schemas.microsoft.com/office/powerpoint/2010/main" val="1144083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17140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7710F01-E201-4905-B854-76BCE7F1F615}"/>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C69A4B"/>
                </a:solidFill>
                <a:latin typeface="Aptos"/>
                <a:ea typeface="Aptos"/>
                <a:cs typeface="Aptos"/>
              </a:defRPr>
            </a:pPr>
            <a:r>
              <a:rPr sz="1125" b="1">
                <a:solidFill>
                  <a:srgbClr val="C69A4B"/>
                </a:solidFill>
                <a:latin typeface="Aptos"/>
                <a:ea typeface="Aptos"/>
                <a:cs typeface="Aptos"/>
              </a:rPr>
              <a:t>FACILITATOR APPENDIX · HIDDEN</a:t>
            </a:r>
          </a:p>
        </p:txBody>
      </p:sp>
      <p:sp>
        <p:nvSpPr>
          <p:cNvPr id="2" name="Rectangle 1">
            <a:extLst>
              <a:ext uri="{FF2B5EF4-FFF2-40B4-BE49-F238E27FC236}">
                <a16:creationId xmlns:a16="http://schemas.microsoft.com/office/drawing/2014/main" id="{6F856DF6-B713-4636-96BE-3F334510CDC1}"/>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FFF8E8"/>
                </a:solidFill>
                <a:latin typeface="Aptos Display"/>
                <a:ea typeface="Aptos Display"/>
                <a:cs typeface="Aptos Display"/>
              </a:defRPr>
            </a:pPr>
            <a:r>
              <a:rPr sz="3750" b="1">
                <a:solidFill>
                  <a:srgbClr val="FFF8E8"/>
                </a:solidFill>
                <a:latin typeface="Aptos Display"/>
                <a:ea typeface="Aptos Display"/>
                <a:cs typeface="Aptos Display"/>
              </a:rPr>
              <a:t>Remix: pilot, do not improvise at scale</a:t>
            </a:r>
          </a:p>
        </p:txBody>
      </p:sp>
      <p:sp>
        <p:nvSpPr>
          <p:cNvPr id="3" name="Rectangle 2">
            <a:extLst>
              <a:ext uri="{FF2B5EF4-FFF2-40B4-BE49-F238E27FC236}">
                <a16:creationId xmlns:a16="http://schemas.microsoft.com/office/drawing/2014/main" id="{8CDCAD47-D639-4671-9BC5-A0155449EAF2}"/>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CFC3AF"/>
                </a:solidFill>
                <a:latin typeface="Aptos"/>
                <a:ea typeface="Aptos"/>
                <a:cs typeface="Aptos"/>
              </a:defRPr>
            </a:pPr>
            <a:r>
              <a:rPr sz="1800" b="0">
                <a:solidFill>
                  <a:srgbClr val="CFC3AF"/>
                </a:solidFill>
                <a:latin typeface="Aptos"/>
                <a:ea typeface="Aptos"/>
                <a:cs typeface="Aptos"/>
              </a:rPr>
              <a:t>Use 6–10 devices only after a rehearsal.</a:t>
            </a:r>
          </a:p>
        </p:txBody>
      </p:sp>
      <p:sp>
        <p:nvSpPr>
          <p:cNvPr id="4" name="Rectangle 3">
            <a:extLst>
              <a:ext uri="{FF2B5EF4-FFF2-40B4-BE49-F238E27FC236}">
                <a16:creationId xmlns:a16="http://schemas.microsoft.com/office/drawing/2014/main" id="{FBE141CA-8B9E-4861-B357-BCB451ABB5CB}"/>
              </a:ext>
            </a:extLst>
          </p:cNvPr>
          <p:cNvSpPr>
            <a:spLocks noGrp="1"/>
          </p:cNvSpPr>
          <p:nvPr/>
        </p:nvSpPr>
        <p:spPr>
          <a:xfrm>
            <a:off x="666750" y="2428875"/>
            <a:ext cx="514350" cy="514350"/>
          </a:xfrm>
          <a:prstGeom prst="rect">
            <a:avLst/>
          </a:prstGeom>
          <a:noFill/>
          <a:ln w="0">
            <a:noFill/>
          </a:ln>
        </p:spPr>
        <p:txBody>
          <a:bodyPr anchor="ctr">
            <a:normAutofit/>
          </a:bodyPr>
          <a:lstStyle/>
          <a:p>
            <a:pPr algn="ctr">
              <a:lnSpc>
                <a:spcPct val="100000"/>
              </a:lnSpc>
              <a:buNone/>
              <a:defRPr sz="2700" b="1">
                <a:solidFill>
                  <a:srgbClr val="C69A4B"/>
                </a:solidFill>
                <a:latin typeface="Aptos Display"/>
                <a:ea typeface="Aptos Display"/>
                <a:cs typeface="Aptos Display"/>
              </a:defRPr>
            </a:pPr>
            <a:r>
              <a:rPr sz="2700" b="1">
                <a:solidFill>
                  <a:srgbClr val="C69A4B"/>
                </a:solidFill>
                <a:latin typeface="Aptos Display"/>
                <a:ea typeface="Aptos Display"/>
                <a:cs typeface="Aptos Display"/>
              </a:rPr>
              <a:t>1</a:t>
            </a:r>
          </a:p>
        </p:txBody>
      </p:sp>
      <p:sp>
        <p:nvSpPr>
          <p:cNvPr id="5" name="Rectangle 4">
            <a:extLst>
              <a:ext uri="{FF2B5EF4-FFF2-40B4-BE49-F238E27FC236}">
                <a16:creationId xmlns:a16="http://schemas.microsoft.com/office/drawing/2014/main" id="{D15CA502-0457-49BF-8D3E-93400CF5B652}"/>
              </a:ext>
            </a:extLst>
          </p:cNvPr>
          <p:cNvSpPr>
            <a:spLocks noGrp="1"/>
          </p:cNvSpPr>
          <p:nvPr/>
        </p:nvSpPr>
        <p:spPr>
          <a:xfrm>
            <a:off x="1428750" y="2352675"/>
            <a:ext cx="6191250" cy="666750"/>
          </a:xfrm>
          <a:prstGeom prst="rect">
            <a:avLst/>
          </a:prstGeom>
          <a:noFill/>
          <a:ln w="0">
            <a:noFill/>
          </a:ln>
        </p:spPr>
        <p:txBody>
          <a:bodyPr anchor="ctr">
            <a:normAutofit/>
          </a:bodyPr>
          <a:lstStyle/>
          <a:p>
            <a:pPr algn="l">
              <a:lnSpc>
                <a:spcPct val="100000"/>
              </a:lnSpc>
              <a:buNone/>
              <a:defRPr sz="2175" b="1">
                <a:solidFill>
                  <a:srgbClr val="FFF8E8"/>
                </a:solidFill>
                <a:latin typeface="Aptos"/>
                <a:ea typeface="Aptos"/>
                <a:cs typeface="Aptos"/>
              </a:defRPr>
            </a:pPr>
            <a:r>
              <a:rPr sz="2175" b="1">
                <a:solidFill>
                  <a:srgbClr val="FFF8E8"/>
                </a:solidFill>
                <a:latin typeface="Aptos"/>
                <a:ea typeface="Aptos"/>
                <a:cs typeface="Aptos"/>
              </a:rPr>
              <a:t>Host starts remix and the play-first lock.</a:t>
            </a:r>
          </a:p>
        </p:txBody>
      </p:sp>
      <p:sp>
        <p:nvSpPr>
          <p:cNvPr id="6" name="Rectangle 5">
            <a:extLst>
              <a:ext uri="{FF2B5EF4-FFF2-40B4-BE49-F238E27FC236}">
                <a16:creationId xmlns:a16="http://schemas.microsoft.com/office/drawing/2014/main" id="{56B282A1-D241-4CCD-8992-7192DF3D39CA}"/>
              </a:ext>
            </a:extLst>
          </p:cNvPr>
          <p:cNvSpPr>
            <a:spLocks noGrp="1"/>
          </p:cNvSpPr>
          <p:nvPr/>
        </p:nvSpPr>
        <p:spPr>
          <a:xfrm>
            <a:off x="666750" y="3381375"/>
            <a:ext cx="514350" cy="514350"/>
          </a:xfrm>
          <a:prstGeom prst="rect">
            <a:avLst/>
          </a:prstGeom>
          <a:noFill/>
          <a:ln w="0">
            <a:noFill/>
          </a:ln>
        </p:spPr>
        <p:txBody>
          <a:bodyPr anchor="ctr">
            <a:normAutofit/>
          </a:bodyPr>
          <a:lstStyle/>
          <a:p>
            <a:pPr algn="ctr">
              <a:lnSpc>
                <a:spcPct val="100000"/>
              </a:lnSpc>
              <a:buNone/>
              <a:defRPr sz="2700" b="1">
                <a:solidFill>
                  <a:srgbClr val="BE2F9F"/>
                </a:solidFill>
                <a:latin typeface="Aptos Display"/>
                <a:ea typeface="Aptos Display"/>
                <a:cs typeface="Aptos Display"/>
              </a:defRPr>
            </a:pPr>
            <a:r>
              <a:rPr sz="2700" b="1">
                <a:solidFill>
                  <a:srgbClr val="BE2F9F"/>
                </a:solidFill>
                <a:latin typeface="Aptos Display"/>
                <a:ea typeface="Aptos Display"/>
                <a:cs typeface="Aptos Display"/>
              </a:rPr>
              <a:t>2</a:t>
            </a:r>
          </a:p>
        </p:txBody>
      </p:sp>
      <p:sp>
        <p:nvSpPr>
          <p:cNvPr id="7" name="Rectangle 6">
            <a:extLst>
              <a:ext uri="{FF2B5EF4-FFF2-40B4-BE49-F238E27FC236}">
                <a16:creationId xmlns:a16="http://schemas.microsoft.com/office/drawing/2014/main" id="{EDDE1F4B-D377-444F-9B98-92E858A4827C}"/>
              </a:ext>
            </a:extLst>
          </p:cNvPr>
          <p:cNvSpPr>
            <a:spLocks noGrp="1"/>
          </p:cNvSpPr>
          <p:nvPr/>
        </p:nvSpPr>
        <p:spPr>
          <a:xfrm>
            <a:off x="1428750" y="3305175"/>
            <a:ext cx="6191250" cy="666750"/>
          </a:xfrm>
          <a:prstGeom prst="rect">
            <a:avLst/>
          </a:prstGeom>
          <a:noFill/>
          <a:ln w="0">
            <a:noFill/>
          </a:ln>
        </p:spPr>
        <p:txBody>
          <a:bodyPr anchor="ctr">
            <a:normAutofit/>
          </a:bodyPr>
          <a:lstStyle/>
          <a:p>
            <a:pPr algn="l">
              <a:lnSpc>
                <a:spcPct val="100000"/>
              </a:lnSpc>
              <a:buNone/>
              <a:defRPr sz="2175" b="1">
                <a:solidFill>
                  <a:srgbClr val="FFF8E8"/>
                </a:solidFill>
                <a:latin typeface="Aptos"/>
                <a:ea typeface="Aptos"/>
                <a:cs typeface="Aptos"/>
              </a:defRPr>
            </a:pPr>
            <a:r>
              <a:rPr sz="2175" b="1">
                <a:solidFill>
                  <a:srgbClr val="FFF8E8"/>
                </a:solidFill>
                <a:latin typeface="Aptos"/>
                <a:ea typeface="Aptos"/>
                <a:cs typeface="Aptos"/>
              </a:rPr>
              <a:t>Each tester receives somebody else's game.</a:t>
            </a:r>
          </a:p>
        </p:txBody>
      </p:sp>
      <p:sp>
        <p:nvSpPr>
          <p:cNvPr id="8" name="Rectangle 7">
            <a:extLst>
              <a:ext uri="{FF2B5EF4-FFF2-40B4-BE49-F238E27FC236}">
                <a16:creationId xmlns:a16="http://schemas.microsoft.com/office/drawing/2014/main" id="{FD4FFDBD-1AB7-4AE3-9518-FBEDD05A2AF6}"/>
              </a:ext>
            </a:extLst>
          </p:cNvPr>
          <p:cNvSpPr>
            <a:spLocks noGrp="1"/>
          </p:cNvSpPr>
          <p:nvPr/>
        </p:nvSpPr>
        <p:spPr>
          <a:xfrm>
            <a:off x="666750" y="4333875"/>
            <a:ext cx="514350" cy="514350"/>
          </a:xfrm>
          <a:prstGeom prst="rect">
            <a:avLst/>
          </a:prstGeom>
          <a:noFill/>
          <a:ln w="0">
            <a:noFill/>
          </a:ln>
        </p:spPr>
        <p:txBody>
          <a:bodyPr anchor="ctr">
            <a:normAutofit/>
          </a:bodyPr>
          <a:lstStyle/>
          <a:p>
            <a:pPr algn="ctr">
              <a:lnSpc>
                <a:spcPct val="100000"/>
              </a:lnSpc>
              <a:buNone/>
              <a:defRPr sz="2700" b="1">
                <a:solidFill>
                  <a:srgbClr val="26845A"/>
                </a:solidFill>
                <a:latin typeface="Aptos Display"/>
                <a:ea typeface="Aptos Display"/>
                <a:cs typeface="Aptos Display"/>
              </a:defRPr>
            </a:pPr>
            <a:r>
              <a:rPr sz="2700" b="1">
                <a:solidFill>
                  <a:srgbClr val="26845A"/>
                </a:solidFill>
                <a:latin typeface="Aptos Display"/>
                <a:ea typeface="Aptos Display"/>
                <a:cs typeface="Aptos Display"/>
              </a:rPr>
              <a:t>3</a:t>
            </a:r>
          </a:p>
        </p:txBody>
      </p:sp>
      <p:sp>
        <p:nvSpPr>
          <p:cNvPr id="9" name="Rectangle 8">
            <a:extLst>
              <a:ext uri="{FF2B5EF4-FFF2-40B4-BE49-F238E27FC236}">
                <a16:creationId xmlns:a16="http://schemas.microsoft.com/office/drawing/2014/main" id="{BE74996C-A7FC-4F50-87D4-E61626EBDBFB}"/>
              </a:ext>
            </a:extLst>
          </p:cNvPr>
          <p:cNvSpPr>
            <a:spLocks noGrp="1"/>
          </p:cNvSpPr>
          <p:nvPr/>
        </p:nvSpPr>
        <p:spPr>
          <a:xfrm>
            <a:off x="1428750" y="4257675"/>
            <a:ext cx="6667500" cy="838200"/>
          </a:xfrm>
          <a:prstGeom prst="rect">
            <a:avLst/>
          </a:prstGeom>
          <a:noFill/>
          <a:ln w="0">
            <a:noFill/>
          </a:ln>
        </p:spPr>
        <p:txBody>
          <a:bodyPr anchor="ctr">
            <a:normAutofit/>
          </a:bodyPr>
          <a:lstStyle/>
          <a:p>
            <a:pPr algn="l">
              <a:lnSpc>
                <a:spcPct val="100000"/>
              </a:lnSpc>
              <a:buNone/>
              <a:defRPr sz="2175" b="1">
                <a:solidFill>
                  <a:srgbClr val="FFF8E8"/>
                </a:solidFill>
                <a:latin typeface="Aptos"/>
                <a:ea typeface="Aptos"/>
                <a:cs typeface="Aptos"/>
              </a:defRPr>
            </a:pPr>
            <a:r>
              <a:rPr sz="2175" b="1">
                <a:solidFill>
                  <a:srgbClr val="FFF8E8"/>
                </a:solidFill>
                <a:latin typeface="Aptos"/>
                <a:ea typeface="Aptos"/>
                <a:cs typeface="Aptos"/>
              </a:rPr>
              <a:t>The remix saves as a new version; the owner keeps final say.</a:t>
            </a:r>
          </a:p>
        </p:txBody>
      </p:sp>
      <p:pic>
        <p:nvPicPr>
          <p:cNvPr id="20" name="Picture 19"/>
          <p:cNvPicPr>
            <a:picLocks noChangeAspect="1"/>
          </p:cNvPicPr>
          <p:nvPr/>
        </p:nvPicPr>
        <p:blipFill>
          <a:blip r:embed="rId3"/>
          <a:stretch/>
        </p:blipFill>
        <p:spPr>
          <a:xfrm>
            <a:off x="8572500" y="2319218"/>
            <a:ext cx="2809875" cy="3076813"/>
          </a:xfrm>
          <a:prstGeom prst="rect">
            <a:avLst/>
          </a:prstGeom>
        </p:spPr>
      </p:pic>
    </p:spTree>
    <p:extLst>
      <p:ext uri="{BB962C8B-B14F-4D97-AF65-F5344CB8AC3E}">
        <p14:creationId xmlns:p14="http://schemas.microsoft.com/office/powerpoint/2010/main" val="757523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EEE7D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4373D11-0A58-4152-A615-0D5734BF24CE}"/>
              </a:ext>
            </a:extLst>
          </p:cNvPr>
          <p:cNvSpPr>
            <a:spLocks noGrp="1"/>
          </p:cNvSpPr>
          <p:nvPr/>
        </p:nvSpPr>
        <p:spPr>
          <a:xfrm>
            <a:off x="628650" y="342900"/>
            <a:ext cx="6096000" cy="266700"/>
          </a:xfrm>
          <a:prstGeom prst="rect">
            <a:avLst/>
          </a:prstGeom>
          <a:noFill/>
          <a:ln w="0">
            <a:noFill/>
          </a:ln>
        </p:spPr>
        <p:txBody>
          <a:bodyPr anchor="ctr">
            <a:normAutofit/>
          </a:bodyPr>
          <a:lstStyle/>
          <a:p>
            <a:pPr algn="l">
              <a:lnSpc>
                <a:spcPct val="100000"/>
              </a:lnSpc>
              <a:buNone/>
              <a:defRPr sz="1125" b="1">
                <a:solidFill>
                  <a:srgbClr val="BE2F9F"/>
                </a:solidFill>
                <a:latin typeface="Aptos"/>
                <a:ea typeface="Aptos"/>
                <a:cs typeface="Aptos"/>
              </a:defRPr>
            </a:pPr>
            <a:r>
              <a:rPr sz="1125" b="1">
                <a:solidFill>
                  <a:srgbClr val="BE2F9F"/>
                </a:solidFill>
                <a:latin typeface="Aptos"/>
                <a:ea typeface="Aptos"/>
                <a:cs typeface="Aptos"/>
              </a:rPr>
              <a:t>FACILITATOR APPENDIX · HIDDEN</a:t>
            </a:r>
          </a:p>
        </p:txBody>
      </p:sp>
      <p:sp>
        <p:nvSpPr>
          <p:cNvPr id="2" name="Rectangle 1">
            <a:extLst>
              <a:ext uri="{FF2B5EF4-FFF2-40B4-BE49-F238E27FC236}">
                <a16:creationId xmlns:a16="http://schemas.microsoft.com/office/drawing/2014/main" id="{E599BF0B-7567-41AD-A782-5D6049C708A2}"/>
              </a:ext>
            </a:extLst>
          </p:cNvPr>
          <p:cNvSpPr>
            <a:spLocks noGrp="1"/>
          </p:cNvSpPr>
          <p:nvPr/>
        </p:nvSpPr>
        <p:spPr>
          <a:xfrm>
            <a:off x="609600" y="685800"/>
            <a:ext cx="9906000" cy="819150"/>
          </a:xfrm>
          <a:prstGeom prst="rect">
            <a:avLst/>
          </a:prstGeom>
          <a:noFill/>
          <a:ln w="0">
            <a:noFill/>
          </a:ln>
        </p:spPr>
        <p:txBody>
          <a:bodyPr anchor="ctr">
            <a:normAutofit/>
          </a:bodyPr>
          <a:lstStyle/>
          <a:p>
            <a:pPr algn="l">
              <a:lnSpc>
                <a:spcPct val="100000"/>
              </a:lnSpc>
              <a:buNone/>
              <a:defRPr sz="3750" b="1">
                <a:solidFill>
                  <a:srgbClr val="181611"/>
                </a:solidFill>
                <a:latin typeface="Aptos Display"/>
                <a:ea typeface="Aptos Display"/>
                <a:cs typeface="Aptos Display"/>
              </a:defRPr>
            </a:pPr>
            <a:r>
              <a:rPr sz="3750" b="1">
                <a:solidFill>
                  <a:srgbClr val="181611"/>
                </a:solidFill>
                <a:latin typeface="Aptos Display"/>
                <a:ea typeface="Aptos Display"/>
                <a:cs typeface="Aptos Display"/>
              </a:rPr>
              <a:t>Fallback ladder</a:t>
            </a:r>
          </a:p>
        </p:txBody>
      </p:sp>
      <p:sp>
        <p:nvSpPr>
          <p:cNvPr id="3" name="Rectangle 2">
            <a:extLst>
              <a:ext uri="{FF2B5EF4-FFF2-40B4-BE49-F238E27FC236}">
                <a16:creationId xmlns:a16="http://schemas.microsoft.com/office/drawing/2014/main" id="{767CA09A-047B-46D0-BA12-27C9EB9268FC}"/>
              </a:ext>
            </a:extLst>
          </p:cNvPr>
          <p:cNvSpPr>
            <a:spLocks noGrp="1"/>
          </p:cNvSpPr>
          <p:nvPr/>
        </p:nvSpPr>
        <p:spPr>
          <a:xfrm>
            <a:off x="647700" y="1504950"/>
            <a:ext cx="9144000" cy="457200"/>
          </a:xfrm>
          <a:prstGeom prst="rect">
            <a:avLst/>
          </a:prstGeom>
          <a:noFill/>
          <a:ln w="0">
            <a:noFill/>
          </a:ln>
        </p:spPr>
        <p:txBody>
          <a:bodyPr anchor="ctr">
            <a:normAutofit/>
          </a:bodyPr>
          <a:lstStyle/>
          <a:p>
            <a:pPr algn="l">
              <a:lnSpc>
                <a:spcPct val="100000"/>
              </a:lnSpc>
              <a:buNone/>
              <a:defRPr sz="1800" b="0">
                <a:solidFill>
                  <a:srgbClr val="706A5D"/>
                </a:solidFill>
                <a:latin typeface="Aptos"/>
                <a:ea typeface="Aptos"/>
                <a:cs typeface="Aptos"/>
              </a:defRPr>
            </a:pPr>
            <a:r>
              <a:rPr sz="1800" b="0">
                <a:solidFill>
                  <a:srgbClr val="706A5D"/>
                </a:solidFill>
                <a:latin typeface="Aptos"/>
                <a:ea typeface="Aptos"/>
                <a:cs typeface="Aptos"/>
              </a:rPr>
              <a:t>Keep the learning goal alive if the technology slows down.</a:t>
            </a:r>
          </a:p>
        </p:txBody>
      </p:sp>
      <p:sp>
        <p:nvSpPr>
          <p:cNvPr id="4" name="Rectangle: Rounded Corners 3">
            <a:extLst>
              <a:ext uri="{FF2B5EF4-FFF2-40B4-BE49-F238E27FC236}">
                <a16:creationId xmlns:a16="http://schemas.microsoft.com/office/drawing/2014/main" id="{5B5199F9-5DDE-4B30-AADE-A2A098407F72}"/>
              </a:ext>
            </a:extLst>
          </p:cNvPr>
          <p:cNvSpPr>
            <a:spLocks noGrp="1"/>
          </p:cNvSpPr>
          <p:nvPr/>
        </p:nvSpPr>
        <p:spPr>
          <a:xfrm>
            <a:off x="685800" y="2190750"/>
            <a:ext cx="4953000" cy="1390650"/>
          </a:xfrm>
          <a:prstGeom prst="roundRect">
            <a:avLst>
              <a:gd name="adj" fmla="val 5479"/>
            </a:avLst>
          </a:prstGeom>
          <a:solidFill>
            <a:srgbClr val="FFFFFF"/>
          </a:solidFill>
          <a:ln w="9525">
            <a:solidFill>
              <a:srgbClr val="D8CDB9"/>
            </a:solidFill>
            <a:prstDash val="solid"/>
          </a:ln>
        </p:spPr>
        <p:txBody>
          <a:bodyPr/>
          <a:lstStyle/>
          <a:p>
            <a:endParaRPr lang="en-DE"/>
          </a:p>
        </p:txBody>
      </p:sp>
      <p:sp>
        <p:nvSpPr>
          <p:cNvPr id="5" name="Rectangle 4">
            <a:extLst>
              <a:ext uri="{FF2B5EF4-FFF2-40B4-BE49-F238E27FC236}">
                <a16:creationId xmlns:a16="http://schemas.microsoft.com/office/drawing/2014/main" id="{28222875-E4A0-470C-B989-1F9961094AFC}"/>
              </a:ext>
            </a:extLst>
          </p:cNvPr>
          <p:cNvSpPr>
            <a:spLocks noGrp="1"/>
          </p:cNvSpPr>
          <p:nvPr/>
        </p:nvSpPr>
        <p:spPr>
          <a:xfrm>
            <a:off x="876300" y="2362200"/>
            <a:ext cx="533400" cy="476250"/>
          </a:xfrm>
          <a:prstGeom prst="rect">
            <a:avLst/>
          </a:prstGeom>
          <a:noFill/>
          <a:ln w="0">
            <a:noFill/>
          </a:ln>
        </p:spPr>
        <p:txBody>
          <a:bodyPr anchor="ctr">
            <a:normAutofit fontScale="99020"/>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A</a:t>
            </a:r>
          </a:p>
        </p:txBody>
      </p:sp>
      <p:sp>
        <p:nvSpPr>
          <p:cNvPr id="6" name="Rectangle 5">
            <a:extLst>
              <a:ext uri="{FF2B5EF4-FFF2-40B4-BE49-F238E27FC236}">
                <a16:creationId xmlns:a16="http://schemas.microsoft.com/office/drawing/2014/main" id="{0AD49E72-06BF-4BC5-8EB5-64EC1BE60F2E}"/>
              </a:ext>
            </a:extLst>
          </p:cNvPr>
          <p:cNvSpPr>
            <a:spLocks noGrp="1"/>
          </p:cNvSpPr>
          <p:nvPr/>
        </p:nvSpPr>
        <p:spPr>
          <a:xfrm>
            <a:off x="1524000" y="2343150"/>
            <a:ext cx="3714750" cy="400050"/>
          </a:xfrm>
          <a:prstGeom prst="rect">
            <a:avLst/>
          </a:prstGeom>
          <a:noFill/>
          <a:ln w="0">
            <a:noFill/>
          </a:ln>
        </p:spPr>
        <p:txBody>
          <a:bodyPr anchor="ctr">
            <a:normAutofit/>
          </a:bodyPr>
          <a:lstStyle/>
          <a:p>
            <a:pPr algn="l">
              <a:lnSpc>
                <a:spcPct val="100000"/>
              </a:lnSpc>
              <a:buNone/>
              <a:defRPr sz="1800" b="1">
                <a:solidFill>
                  <a:srgbClr val="181611"/>
                </a:solidFill>
                <a:latin typeface="Aptos"/>
                <a:ea typeface="Aptos"/>
                <a:cs typeface="Aptos"/>
              </a:defRPr>
            </a:pPr>
            <a:r>
              <a:rPr sz="1800" b="1">
                <a:solidFill>
                  <a:srgbClr val="181611"/>
                </a:solidFill>
                <a:latin typeface="Aptos"/>
                <a:ea typeface="Aptos"/>
                <a:cs typeface="Aptos"/>
              </a:rPr>
              <a:t>Slow generation</a:t>
            </a:r>
          </a:p>
        </p:txBody>
      </p:sp>
      <p:sp>
        <p:nvSpPr>
          <p:cNvPr id="7" name="Rectangle 6">
            <a:extLst>
              <a:ext uri="{FF2B5EF4-FFF2-40B4-BE49-F238E27FC236}">
                <a16:creationId xmlns:a16="http://schemas.microsoft.com/office/drawing/2014/main" id="{1AB2C609-B7DC-4E34-9198-A25D4D310F70}"/>
              </a:ext>
            </a:extLst>
          </p:cNvPr>
          <p:cNvSpPr>
            <a:spLocks noGrp="1"/>
          </p:cNvSpPr>
          <p:nvPr/>
        </p:nvSpPr>
        <p:spPr>
          <a:xfrm>
            <a:off x="1524000" y="2781300"/>
            <a:ext cx="3714750" cy="609600"/>
          </a:xfrm>
          <a:prstGeom prst="rect">
            <a:avLst/>
          </a:prstGeom>
          <a:noFill/>
          <a:ln w="0">
            <a:noFill/>
          </a:ln>
        </p:spPr>
        <p:txBody>
          <a:bodyPr anchor="ctr">
            <a:normAutofit/>
          </a:bodyPr>
          <a:lstStyle/>
          <a:p>
            <a:pPr algn="l">
              <a:lnSpc>
                <a:spcPct val="100000"/>
              </a:lnSpc>
              <a:buNone/>
              <a:defRPr sz="1575" b="0">
                <a:solidFill>
                  <a:srgbClr val="706A5D"/>
                </a:solidFill>
                <a:latin typeface="Aptos"/>
                <a:ea typeface="Aptos"/>
                <a:cs typeface="Aptos"/>
              </a:defRPr>
            </a:pPr>
            <a:r>
              <a:rPr sz="1575" b="0">
                <a:solidFill>
                  <a:srgbClr val="706A5D"/>
                </a:solidFill>
                <a:latin typeface="Aptos"/>
                <a:ea typeface="Aptos"/>
                <a:cs typeface="Aptos"/>
              </a:rPr>
              <a:t>Refine the prompt; test the last working build.</a:t>
            </a:r>
          </a:p>
        </p:txBody>
      </p:sp>
      <p:sp>
        <p:nvSpPr>
          <p:cNvPr id="8" name="Rectangle: Rounded Corners 7">
            <a:extLst>
              <a:ext uri="{FF2B5EF4-FFF2-40B4-BE49-F238E27FC236}">
                <a16:creationId xmlns:a16="http://schemas.microsoft.com/office/drawing/2014/main" id="{E9DEE9BE-C61C-434F-90DE-8B47139A1F4F}"/>
              </a:ext>
            </a:extLst>
          </p:cNvPr>
          <p:cNvSpPr>
            <a:spLocks noGrp="1"/>
          </p:cNvSpPr>
          <p:nvPr/>
        </p:nvSpPr>
        <p:spPr>
          <a:xfrm>
            <a:off x="6096000" y="2190750"/>
            <a:ext cx="4953000" cy="1390650"/>
          </a:xfrm>
          <a:prstGeom prst="roundRect">
            <a:avLst>
              <a:gd name="adj" fmla="val 5479"/>
            </a:avLst>
          </a:prstGeom>
          <a:solidFill>
            <a:srgbClr val="FFFFFF"/>
          </a:solidFill>
          <a:ln w="9525">
            <a:solidFill>
              <a:srgbClr val="D8CDB9"/>
            </a:solidFill>
            <a:prstDash val="solid"/>
          </a:ln>
        </p:spPr>
        <p:txBody>
          <a:bodyPr/>
          <a:lstStyle/>
          <a:p>
            <a:endParaRPr lang="en-DE"/>
          </a:p>
        </p:txBody>
      </p:sp>
      <p:sp>
        <p:nvSpPr>
          <p:cNvPr id="9" name="Rectangle 8">
            <a:extLst>
              <a:ext uri="{FF2B5EF4-FFF2-40B4-BE49-F238E27FC236}">
                <a16:creationId xmlns:a16="http://schemas.microsoft.com/office/drawing/2014/main" id="{36DDCFFA-9561-41FE-A4FB-5578F0935D90}"/>
              </a:ext>
            </a:extLst>
          </p:cNvPr>
          <p:cNvSpPr>
            <a:spLocks noGrp="1"/>
          </p:cNvSpPr>
          <p:nvPr/>
        </p:nvSpPr>
        <p:spPr>
          <a:xfrm>
            <a:off x="6286500" y="2362200"/>
            <a:ext cx="533400" cy="476250"/>
          </a:xfrm>
          <a:prstGeom prst="rect">
            <a:avLst/>
          </a:prstGeom>
          <a:noFill/>
          <a:ln w="0">
            <a:noFill/>
          </a:ln>
        </p:spPr>
        <p:txBody>
          <a:bodyPr anchor="ctr">
            <a:normAutofit fontScale="99020"/>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B</a:t>
            </a:r>
          </a:p>
        </p:txBody>
      </p:sp>
      <p:sp>
        <p:nvSpPr>
          <p:cNvPr id="10" name="Rectangle 9">
            <a:extLst>
              <a:ext uri="{FF2B5EF4-FFF2-40B4-BE49-F238E27FC236}">
                <a16:creationId xmlns:a16="http://schemas.microsoft.com/office/drawing/2014/main" id="{5F9E3C3A-B610-45C5-84A5-65EE071CDCE3}"/>
              </a:ext>
            </a:extLst>
          </p:cNvPr>
          <p:cNvSpPr>
            <a:spLocks noGrp="1"/>
          </p:cNvSpPr>
          <p:nvPr/>
        </p:nvSpPr>
        <p:spPr>
          <a:xfrm>
            <a:off x="6934200" y="2343150"/>
            <a:ext cx="3714750" cy="400050"/>
          </a:xfrm>
          <a:prstGeom prst="rect">
            <a:avLst/>
          </a:prstGeom>
          <a:noFill/>
          <a:ln w="0">
            <a:noFill/>
          </a:ln>
        </p:spPr>
        <p:txBody>
          <a:bodyPr anchor="ctr">
            <a:normAutofit/>
          </a:bodyPr>
          <a:lstStyle/>
          <a:p>
            <a:pPr algn="l">
              <a:lnSpc>
                <a:spcPct val="100000"/>
              </a:lnSpc>
              <a:buNone/>
              <a:defRPr sz="1800" b="1">
                <a:solidFill>
                  <a:srgbClr val="181611"/>
                </a:solidFill>
                <a:latin typeface="Aptos"/>
                <a:ea typeface="Aptos"/>
                <a:cs typeface="Aptos"/>
              </a:defRPr>
            </a:pPr>
            <a:r>
              <a:rPr sz="1800" b="1">
                <a:solidFill>
                  <a:srgbClr val="181611"/>
                </a:solidFill>
                <a:latin typeface="Aptos"/>
                <a:ea typeface="Aptos"/>
                <a:cs typeface="Aptos"/>
              </a:rPr>
              <a:t>Publish fails</a:t>
            </a:r>
          </a:p>
        </p:txBody>
      </p:sp>
      <p:sp>
        <p:nvSpPr>
          <p:cNvPr id="11" name="Rectangle 10">
            <a:extLst>
              <a:ext uri="{FF2B5EF4-FFF2-40B4-BE49-F238E27FC236}">
                <a16:creationId xmlns:a16="http://schemas.microsoft.com/office/drawing/2014/main" id="{B757693F-7E9F-4E79-B196-21C0633757DB}"/>
              </a:ext>
            </a:extLst>
          </p:cNvPr>
          <p:cNvSpPr>
            <a:spLocks noGrp="1"/>
          </p:cNvSpPr>
          <p:nvPr/>
        </p:nvSpPr>
        <p:spPr>
          <a:xfrm>
            <a:off x="6934200" y="2781300"/>
            <a:ext cx="3714750" cy="609600"/>
          </a:xfrm>
          <a:prstGeom prst="rect">
            <a:avLst/>
          </a:prstGeom>
          <a:noFill/>
          <a:ln w="0">
            <a:noFill/>
          </a:ln>
        </p:spPr>
        <p:txBody>
          <a:bodyPr anchor="ctr">
            <a:normAutofit/>
          </a:bodyPr>
          <a:lstStyle/>
          <a:p>
            <a:pPr algn="l">
              <a:lnSpc>
                <a:spcPct val="100000"/>
              </a:lnSpc>
              <a:buNone/>
              <a:defRPr sz="1575" b="0">
                <a:solidFill>
                  <a:srgbClr val="706A5D"/>
                </a:solidFill>
                <a:latin typeface="Aptos"/>
                <a:ea typeface="Aptos"/>
                <a:cs typeface="Aptos"/>
              </a:defRPr>
            </a:pPr>
            <a:r>
              <a:rPr sz="1575" b="0">
                <a:solidFill>
                  <a:srgbClr val="706A5D"/>
                </a:solidFill>
                <a:latin typeface="Aptos"/>
                <a:ea typeface="Aptos"/>
                <a:cs typeface="Aptos"/>
              </a:rPr>
              <a:t>Swap laptops and test by screen sharing.</a:t>
            </a:r>
          </a:p>
        </p:txBody>
      </p:sp>
      <p:sp>
        <p:nvSpPr>
          <p:cNvPr id="12" name="Rectangle: Rounded Corners 11">
            <a:extLst>
              <a:ext uri="{FF2B5EF4-FFF2-40B4-BE49-F238E27FC236}">
                <a16:creationId xmlns:a16="http://schemas.microsoft.com/office/drawing/2014/main" id="{B7624B52-BDC0-462A-830C-BB06EF763630}"/>
              </a:ext>
            </a:extLst>
          </p:cNvPr>
          <p:cNvSpPr>
            <a:spLocks noGrp="1"/>
          </p:cNvSpPr>
          <p:nvPr/>
        </p:nvSpPr>
        <p:spPr>
          <a:xfrm>
            <a:off x="685800" y="3886200"/>
            <a:ext cx="4953000" cy="1390650"/>
          </a:xfrm>
          <a:prstGeom prst="roundRect">
            <a:avLst>
              <a:gd name="adj" fmla="val 5479"/>
            </a:avLst>
          </a:prstGeom>
          <a:solidFill>
            <a:srgbClr val="FFFFFF"/>
          </a:solidFill>
          <a:ln w="9525">
            <a:solidFill>
              <a:srgbClr val="D8CDB9"/>
            </a:solidFill>
            <a:prstDash val="solid"/>
          </a:ln>
        </p:spPr>
        <p:txBody>
          <a:bodyPr/>
          <a:lstStyle/>
          <a:p>
            <a:endParaRPr lang="en-DE"/>
          </a:p>
        </p:txBody>
      </p:sp>
      <p:sp>
        <p:nvSpPr>
          <p:cNvPr id="13" name="Rectangle 12">
            <a:extLst>
              <a:ext uri="{FF2B5EF4-FFF2-40B4-BE49-F238E27FC236}">
                <a16:creationId xmlns:a16="http://schemas.microsoft.com/office/drawing/2014/main" id="{5BCE0044-F326-47AD-B566-8F5B1F9C5E52}"/>
              </a:ext>
            </a:extLst>
          </p:cNvPr>
          <p:cNvSpPr>
            <a:spLocks noGrp="1"/>
          </p:cNvSpPr>
          <p:nvPr/>
        </p:nvSpPr>
        <p:spPr>
          <a:xfrm>
            <a:off x="876300" y="4057650"/>
            <a:ext cx="533400" cy="476250"/>
          </a:xfrm>
          <a:prstGeom prst="rect">
            <a:avLst/>
          </a:prstGeom>
          <a:noFill/>
          <a:ln w="0">
            <a:noFill/>
          </a:ln>
        </p:spPr>
        <p:txBody>
          <a:bodyPr anchor="ctr">
            <a:normAutofit fontScale="99020"/>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C</a:t>
            </a:r>
          </a:p>
        </p:txBody>
      </p:sp>
      <p:sp>
        <p:nvSpPr>
          <p:cNvPr id="14" name="Rectangle 13">
            <a:extLst>
              <a:ext uri="{FF2B5EF4-FFF2-40B4-BE49-F238E27FC236}">
                <a16:creationId xmlns:a16="http://schemas.microsoft.com/office/drawing/2014/main" id="{B075895E-5315-4786-B103-3CB0CBDE37AC}"/>
              </a:ext>
            </a:extLst>
          </p:cNvPr>
          <p:cNvSpPr>
            <a:spLocks noGrp="1"/>
          </p:cNvSpPr>
          <p:nvPr/>
        </p:nvSpPr>
        <p:spPr>
          <a:xfrm>
            <a:off x="1524000" y="4038600"/>
            <a:ext cx="3714750" cy="400050"/>
          </a:xfrm>
          <a:prstGeom prst="rect">
            <a:avLst/>
          </a:prstGeom>
          <a:noFill/>
          <a:ln w="0">
            <a:noFill/>
          </a:ln>
        </p:spPr>
        <p:txBody>
          <a:bodyPr anchor="ctr">
            <a:normAutofit/>
          </a:bodyPr>
          <a:lstStyle/>
          <a:p>
            <a:pPr algn="l">
              <a:lnSpc>
                <a:spcPct val="100000"/>
              </a:lnSpc>
              <a:buNone/>
              <a:defRPr sz="1800" b="1">
                <a:solidFill>
                  <a:srgbClr val="181611"/>
                </a:solidFill>
                <a:latin typeface="Aptos"/>
                <a:ea typeface="Aptos"/>
                <a:cs typeface="Aptos"/>
              </a:defRPr>
            </a:pPr>
            <a:r>
              <a:rPr sz="1800" b="1">
                <a:solidFill>
                  <a:srgbClr val="181611"/>
                </a:solidFill>
                <a:latin typeface="Aptos"/>
                <a:ea typeface="Aptos"/>
                <a:cs typeface="Aptos"/>
              </a:rPr>
              <a:t>Gallery overload</a:t>
            </a:r>
          </a:p>
        </p:txBody>
      </p:sp>
      <p:sp>
        <p:nvSpPr>
          <p:cNvPr id="15" name="Rectangle 14">
            <a:extLst>
              <a:ext uri="{FF2B5EF4-FFF2-40B4-BE49-F238E27FC236}">
                <a16:creationId xmlns:a16="http://schemas.microsoft.com/office/drawing/2014/main" id="{C507E592-A52E-4988-8D77-E95957E2365F}"/>
              </a:ext>
            </a:extLst>
          </p:cNvPr>
          <p:cNvSpPr>
            <a:spLocks noGrp="1"/>
          </p:cNvSpPr>
          <p:nvPr/>
        </p:nvSpPr>
        <p:spPr>
          <a:xfrm>
            <a:off x="1524000" y="4476750"/>
            <a:ext cx="3714750" cy="609600"/>
          </a:xfrm>
          <a:prstGeom prst="rect">
            <a:avLst/>
          </a:prstGeom>
          <a:noFill/>
          <a:ln w="0">
            <a:noFill/>
          </a:ln>
        </p:spPr>
        <p:txBody>
          <a:bodyPr anchor="ctr">
            <a:normAutofit/>
          </a:bodyPr>
          <a:lstStyle/>
          <a:p>
            <a:pPr algn="l">
              <a:lnSpc>
                <a:spcPct val="100000"/>
              </a:lnSpc>
              <a:buNone/>
              <a:defRPr sz="1575" b="0">
                <a:solidFill>
                  <a:srgbClr val="706A5D"/>
                </a:solidFill>
                <a:latin typeface="Aptos"/>
                <a:ea typeface="Aptos"/>
                <a:cs typeface="Aptos"/>
              </a:defRPr>
            </a:pPr>
            <a:r>
              <a:rPr sz="1575" b="0">
                <a:solidFill>
                  <a:srgbClr val="706A5D"/>
                </a:solidFill>
                <a:latin typeface="Aptos"/>
                <a:ea typeface="Aptos"/>
                <a:cs typeface="Aptos"/>
              </a:rPr>
              <a:t>Teacher selects 6–8 games for whole-room play.</a:t>
            </a:r>
          </a:p>
        </p:txBody>
      </p:sp>
      <p:sp>
        <p:nvSpPr>
          <p:cNvPr id="16" name="Rectangle: Rounded Corners 15">
            <a:extLst>
              <a:ext uri="{FF2B5EF4-FFF2-40B4-BE49-F238E27FC236}">
                <a16:creationId xmlns:a16="http://schemas.microsoft.com/office/drawing/2014/main" id="{77F7C60F-F2F3-4FF5-8308-EEB3037D298E}"/>
              </a:ext>
            </a:extLst>
          </p:cNvPr>
          <p:cNvSpPr>
            <a:spLocks noGrp="1"/>
          </p:cNvSpPr>
          <p:nvPr/>
        </p:nvSpPr>
        <p:spPr>
          <a:xfrm>
            <a:off x="6096000" y="3886200"/>
            <a:ext cx="4953000" cy="1390650"/>
          </a:xfrm>
          <a:prstGeom prst="roundRect">
            <a:avLst>
              <a:gd name="adj" fmla="val 5479"/>
            </a:avLst>
          </a:prstGeom>
          <a:solidFill>
            <a:srgbClr val="FFFFFF"/>
          </a:solidFill>
          <a:ln w="9525">
            <a:solidFill>
              <a:srgbClr val="D8CDB9"/>
            </a:solidFill>
            <a:prstDash val="solid"/>
          </a:ln>
        </p:spPr>
        <p:txBody>
          <a:bodyPr/>
          <a:lstStyle/>
          <a:p>
            <a:endParaRPr lang="en-DE"/>
          </a:p>
        </p:txBody>
      </p:sp>
      <p:sp>
        <p:nvSpPr>
          <p:cNvPr id="17" name="Rectangle 16">
            <a:extLst>
              <a:ext uri="{FF2B5EF4-FFF2-40B4-BE49-F238E27FC236}">
                <a16:creationId xmlns:a16="http://schemas.microsoft.com/office/drawing/2014/main" id="{A9B0203D-BAE9-4F99-A8C7-CB8D657C3CDA}"/>
              </a:ext>
            </a:extLst>
          </p:cNvPr>
          <p:cNvSpPr>
            <a:spLocks noGrp="1"/>
          </p:cNvSpPr>
          <p:nvPr/>
        </p:nvSpPr>
        <p:spPr>
          <a:xfrm>
            <a:off x="6286500" y="4057650"/>
            <a:ext cx="533400" cy="476250"/>
          </a:xfrm>
          <a:prstGeom prst="rect">
            <a:avLst/>
          </a:prstGeom>
          <a:noFill/>
          <a:ln w="0">
            <a:noFill/>
          </a:ln>
        </p:spPr>
        <p:txBody>
          <a:bodyPr anchor="ctr">
            <a:normAutofit fontScale="99020"/>
          </a:bodyPr>
          <a:lstStyle/>
          <a:p>
            <a:pPr algn="l">
              <a:lnSpc>
                <a:spcPct val="100000"/>
              </a:lnSpc>
              <a:buNone/>
              <a:defRPr sz="2550" b="1">
                <a:solidFill>
                  <a:srgbClr val="BE2F9F"/>
                </a:solidFill>
                <a:latin typeface="Aptos Display"/>
                <a:ea typeface="Aptos Display"/>
                <a:cs typeface="Aptos Display"/>
              </a:defRPr>
            </a:pPr>
            <a:r>
              <a:rPr sz="2550" b="1">
                <a:solidFill>
                  <a:srgbClr val="BE2F9F"/>
                </a:solidFill>
                <a:latin typeface="Aptos Display"/>
                <a:ea typeface="Aptos Display"/>
                <a:cs typeface="Aptos Display"/>
              </a:rPr>
              <a:t>D</a:t>
            </a:r>
          </a:p>
        </p:txBody>
      </p:sp>
      <p:sp>
        <p:nvSpPr>
          <p:cNvPr id="18" name="Rectangle 17">
            <a:extLst>
              <a:ext uri="{FF2B5EF4-FFF2-40B4-BE49-F238E27FC236}">
                <a16:creationId xmlns:a16="http://schemas.microsoft.com/office/drawing/2014/main" id="{0D9A8A27-7FC3-4AF8-B525-228E76693051}"/>
              </a:ext>
            </a:extLst>
          </p:cNvPr>
          <p:cNvSpPr>
            <a:spLocks noGrp="1"/>
          </p:cNvSpPr>
          <p:nvPr/>
        </p:nvSpPr>
        <p:spPr>
          <a:xfrm>
            <a:off x="6934200" y="4038600"/>
            <a:ext cx="3714750" cy="400050"/>
          </a:xfrm>
          <a:prstGeom prst="rect">
            <a:avLst/>
          </a:prstGeom>
          <a:noFill/>
          <a:ln w="0">
            <a:noFill/>
          </a:ln>
        </p:spPr>
        <p:txBody>
          <a:bodyPr anchor="ctr">
            <a:normAutofit/>
          </a:bodyPr>
          <a:lstStyle/>
          <a:p>
            <a:pPr algn="l">
              <a:lnSpc>
                <a:spcPct val="100000"/>
              </a:lnSpc>
              <a:buNone/>
              <a:defRPr sz="1800" b="1">
                <a:solidFill>
                  <a:srgbClr val="181611"/>
                </a:solidFill>
                <a:latin typeface="Aptos"/>
                <a:ea typeface="Aptos"/>
                <a:cs typeface="Aptos"/>
              </a:defRPr>
            </a:pPr>
            <a:r>
              <a:rPr sz="1800" b="1">
                <a:solidFill>
                  <a:srgbClr val="181611"/>
                </a:solidFill>
                <a:latin typeface="Aptos"/>
                <a:ea typeface="Aptos"/>
                <a:cs typeface="Aptos"/>
              </a:rPr>
              <a:t>Service unavailable</a:t>
            </a:r>
          </a:p>
        </p:txBody>
      </p:sp>
      <p:sp>
        <p:nvSpPr>
          <p:cNvPr id="19" name="Rectangle 18">
            <a:extLst>
              <a:ext uri="{FF2B5EF4-FFF2-40B4-BE49-F238E27FC236}">
                <a16:creationId xmlns:a16="http://schemas.microsoft.com/office/drawing/2014/main" id="{514630E4-642E-486D-AD36-0E97816A21E3}"/>
              </a:ext>
            </a:extLst>
          </p:cNvPr>
          <p:cNvSpPr>
            <a:spLocks noGrp="1"/>
          </p:cNvSpPr>
          <p:nvPr/>
        </p:nvSpPr>
        <p:spPr>
          <a:xfrm>
            <a:off x="6934200" y="4476750"/>
            <a:ext cx="3714750" cy="609600"/>
          </a:xfrm>
          <a:prstGeom prst="rect">
            <a:avLst/>
          </a:prstGeom>
          <a:noFill/>
          <a:ln w="0">
            <a:noFill/>
          </a:ln>
        </p:spPr>
        <p:txBody>
          <a:bodyPr anchor="ctr">
            <a:normAutofit/>
          </a:bodyPr>
          <a:lstStyle/>
          <a:p>
            <a:pPr algn="l">
              <a:lnSpc>
                <a:spcPct val="100000"/>
              </a:lnSpc>
              <a:buNone/>
              <a:defRPr sz="1575" b="0">
                <a:solidFill>
                  <a:srgbClr val="706A5D"/>
                </a:solidFill>
                <a:latin typeface="Aptos"/>
                <a:ea typeface="Aptos"/>
                <a:cs typeface="Aptos"/>
              </a:defRPr>
            </a:pPr>
            <a:r>
              <a:rPr sz="1575" b="0">
                <a:solidFill>
                  <a:srgbClr val="706A5D"/>
                </a:solidFill>
                <a:latin typeface="Aptos"/>
                <a:ea typeface="Aptos"/>
                <a:cs typeface="Aptos"/>
              </a:rPr>
              <a:t>Paper-test the core loop: action, feedback, win.</a:t>
            </a:r>
          </a:p>
        </p:txBody>
      </p:sp>
      <p:pic>
        <p:nvPicPr>
          <p:cNvPr id="40" name="Picture 39"/>
          <p:cNvPicPr>
            <a:picLocks noChangeAspect="1"/>
          </p:cNvPicPr>
          <p:nvPr/>
        </p:nvPicPr>
        <p:blipFill>
          <a:blip r:embed="rId3"/>
          <a:stretch/>
        </p:blipFill>
        <p:spPr>
          <a:xfrm>
            <a:off x="10182225" y="4953000"/>
            <a:ext cx="1028700" cy="1285875"/>
          </a:xfrm>
          <a:prstGeom prst="rect">
            <a:avLst/>
          </a:prstGeom>
        </p:spPr>
      </p:pic>
    </p:spTree>
    <p:extLst>
      <p:ext uri="{BB962C8B-B14F-4D97-AF65-F5344CB8AC3E}">
        <p14:creationId xmlns:p14="http://schemas.microsoft.com/office/powerpoint/2010/main" val="2045575969"/>
      </p:ext>
    </p:extLst>
  </p:cSld>
  <p:clrMapOvr>
    <a:masterClrMapping/>
  </p:clrMapOvr>
</p:sld>
</file>

<file path=ppt/theme/theme1.xml><?xml version="1.0" encoding="utf-8"?>
<a:theme xmlns:a="http://schemas.openxmlformats.org/drawingml/2006/main" name="ChatGPT">
  <a:themeElements>
    <a:clrScheme name="Bot the Creator">
      <a:dk1>
        <a:srgbClr val="000000"/>
      </a:dk1>
      <a:lt1>
        <a:srgbClr val="FFFFFF"/>
      </a:lt1>
      <a:dk2>
        <a:srgbClr val="17140F"/>
      </a:dk2>
      <a:lt2>
        <a:srgbClr val="FFFBF2"/>
      </a:lt2>
      <a:accent1>
        <a:srgbClr val="BE2F9F"/>
      </a:accent1>
      <a:accent2>
        <a:srgbClr val="2F6FED"/>
      </a:accent2>
      <a:accent3>
        <a:srgbClr val="26845A"/>
      </a:accent3>
      <a:accent4>
        <a:srgbClr val="C69A4B"/>
      </a:accent4>
      <a:accent5>
        <a:srgbClr val="C94A4A"/>
      </a:accent5>
      <a:accent6>
        <a:srgbClr val="805EAD"/>
      </a:accent6>
      <a:hlink>
        <a:srgbClr val="2F6FED"/>
      </a:hlink>
      <a:folHlink>
        <a:srgbClr val="BE2F9F"/>
      </a:folHlink>
    </a:clrScheme>
    <a:fontScheme name="Office">
      <a:majorFont>
        <a:latin typeface="Calibri Light"/>
        <a:ea typeface="Calibri Light"/>
        <a:cs typeface="Calibri Light"/>
      </a:majorFont>
      <a:minorFont>
        <a:latin typeface="Calibri"/>
        <a:ea typeface="Calibri"/>
        <a:cs typeface="Calibri"/>
      </a:minorFont>
    </a:fontScheme>
    <a:fmtScheme name="Bot the Creat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ot the Creator">
      <a:dk1>
        <a:srgbClr val="000000"/>
      </a:dk1>
      <a:lt1>
        <a:srgbClr val="FFFFFF"/>
      </a:lt1>
      <a:dk2>
        <a:srgbClr val="17140F"/>
      </a:dk2>
      <a:lt2>
        <a:srgbClr val="FFFBF2"/>
      </a:lt2>
      <a:accent1>
        <a:srgbClr val="BE2F9F"/>
      </a:accent1>
      <a:accent2>
        <a:srgbClr val="2F6FED"/>
      </a:accent2>
      <a:accent3>
        <a:srgbClr val="26845A"/>
      </a:accent3>
      <a:accent4>
        <a:srgbClr val="C69A4B"/>
      </a:accent4>
      <a:accent5>
        <a:srgbClr val="C94A4A"/>
      </a:accent5>
      <a:accent6>
        <a:srgbClr val="805EAD"/>
      </a:accent6>
      <a:hlink>
        <a:srgbClr val="2F6FED"/>
      </a:hlink>
      <a:folHlink>
        <a:srgbClr val="BE2F9F"/>
      </a:folHlink>
    </a:clrScheme>
    <a:fontScheme name="Office">
      <a:majorFont>
        <a:latin typeface="Calibri Light"/>
        <a:ea typeface="Calibri Light"/>
        <a:cs typeface="Calibri Light"/>
      </a:majorFont>
      <a:minorFont>
        <a:latin typeface="Calibri"/>
        <a:ea typeface="Calibri"/>
        <a:cs typeface="Calibri"/>
      </a:minorFont>
    </a:fontScheme>
    <a:fmtScheme name="Bot the Creat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1393</Words>
  <Application>Microsoft Office PowerPoint</Application>
  <DocSecurity>0</DocSecurity>
  <PresentationFormat>Widescreen</PresentationFormat>
  <Paragraphs>189</Paragraphs>
  <Slides>14</Slides>
  <Notes>14</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Bogdan Marculescu</cp:lastModifiedBy>
  <cp:revision>1</cp:revision>
  <dcterms:created xsi:type="dcterms:W3CDTF">2026-09-08T13:25:50Z</dcterms:created>
  <dcterms:modified xsi:type="dcterms:W3CDTF">2026-09-11T11:09:45Z</dcterms:modified>
</cp:coreProperties>
</file>